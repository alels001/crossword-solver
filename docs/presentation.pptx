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Poppins Bold" charset="1" panose="00000800000000000000"/>
      <p:regular r:id="rId31"/>
    </p:embeddedFont>
    <p:embeddedFont>
      <p:font typeface="Poppins"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7184448" y="9324975"/>
            <a:ext cx="608679" cy="602564"/>
            <a:chOff x="0" y="0"/>
            <a:chExt cx="85797" cy="84935"/>
          </a:xfrm>
        </p:grpSpPr>
        <p:sp>
          <p:nvSpPr>
            <p:cNvPr name="Freeform 3" id="3"/>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734110" y="4834326"/>
            <a:ext cx="2815128" cy="3318341"/>
            <a:chOff x="0" y="0"/>
            <a:chExt cx="428955" cy="505633"/>
          </a:xfrm>
        </p:grpSpPr>
        <p:sp>
          <p:nvSpPr>
            <p:cNvPr name="Freeform 6" id="6"/>
            <p:cNvSpPr/>
            <p:nvPr/>
          </p:nvSpPr>
          <p:spPr>
            <a:xfrm flipH="false" flipV="false" rot="0">
              <a:off x="0" y="0"/>
              <a:ext cx="428955" cy="505633"/>
            </a:xfrm>
            <a:custGeom>
              <a:avLst/>
              <a:gdLst/>
              <a:ahLst/>
              <a:cxnLst/>
              <a:rect r="r" b="b" t="t" l="l"/>
              <a:pathLst>
                <a:path h="505633" w="428955">
                  <a:moveTo>
                    <a:pt x="55002" y="0"/>
                  </a:moveTo>
                  <a:lnTo>
                    <a:pt x="373953" y="0"/>
                  </a:lnTo>
                  <a:cubicBezTo>
                    <a:pt x="388541" y="0"/>
                    <a:pt x="402531" y="5795"/>
                    <a:pt x="412846" y="16110"/>
                  </a:cubicBezTo>
                  <a:cubicBezTo>
                    <a:pt x="423161" y="26425"/>
                    <a:pt x="428955" y="40415"/>
                    <a:pt x="428955" y="55002"/>
                  </a:cubicBezTo>
                  <a:lnTo>
                    <a:pt x="428955" y="450630"/>
                  </a:lnTo>
                  <a:cubicBezTo>
                    <a:pt x="428955" y="481007"/>
                    <a:pt x="404330" y="505633"/>
                    <a:pt x="373953" y="505633"/>
                  </a:cubicBezTo>
                  <a:lnTo>
                    <a:pt x="55002" y="505633"/>
                  </a:lnTo>
                  <a:cubicBezTo>
                    <a:pt x="40415" y="505633"/>
                    <a:pt x="26425" y="499838"/>
                    <a:pt x="16110" y="489523"/>
                  </a:cubicBezTo>
                  <a:cubicBezTo>
                    <a:pt x="5795" y="479208"/>
                    <a:pt x="0" y="465218"/>
                    <a:pt x="0" y="45063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7" id="7"/>
            <p:cNvSpPr txBox="true"/>
            <p:nvPr/>
          </p:nvSpPr>
          <p:spPr>
            <a:xfrm>
              <a:off x="0" y="-38100"/>
              <a:ext cx="428955" cy="54373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135892" y="5238406"/>
            <a:ext cx="2011563" cy="2010029"/>
            <a:chOff x="0" y="0"/>
            <a:chExt cx="628766" cy="628287"/>
          </a:xfrm>
        </p:grpSpPr>
        <p:sp>
          <p:nvSpPr>
            <p:cNvPr name="Freeform 9" id="9"/>
            <p:cNvSpPr/>
            <p:nvPr/>
          </p:nvSpPr>
          <p:spPr>
            <a:xfrm flipH="false" flipV="false" rot="0">
              <a:off x="0" y="0"/>
              <a:ext cx="628766" cy="628287"/>
            </a:xfrm>
            <a:custGeom>
              <a:avLst/>
              <a:gdLst/>
              <a:ahLst/>
              <a:cxnLst/>
              <a:rect r="r" b="b" t="t" l="l"/>
              <a:pathLst>
                <a:path h="628287" w="628766">
                  <a:moveTo>
                    <a:pt x="88520" y="0"/>
                  </a:moveTo>
                  <a:lnTo>
                    <a:pt x="540246" y="0"/>
                  </a:lnTo>
                  <a:cubicBezTo>
                    <a:pt x="563723" y="0"/>
                    <a:pt x="586239" y="9326"/>
                    <a:pt x="602839" y="25927"/>
                  </a:cubicBezTo>
                  <a:cubicBezTo>
                    <a:pt x="619440" y="42528"/>
                    <a:pt x="628766" y="65043"/>
                    <a:pt x="628766" y="88520"/>
                  </a:cubicBezTo>
                  <a:lnTo>
                    <a:pt x="628766" y="539767"/>
                  </a:lnTo>
                  <a:cubicBezTo>
                    <a:pt x="628766" y="563244"/>
                    <a:pt x="619440" y="585759"/>
                    <a:pt x="602839" y="602360"/>
                  </a:cubicBezTo>
                  <a:cubicBezTo>
                    <a:pt x="586239" y="618961"/>
                    <a:pt x="563723" y="628287"/>
                    <a:pt x="540246" y="628287"/>
                  </a:cubicBezTo>
                  <a:lnTo>
                    <a:pt x="88520" y="628287"/>
                  </a:lnTo>
                  <a:cubicBezTo>
                    <a:pt x="65043" y="628287"/>
                    <a:pt x="42528" y="618961"/>
                    <a:pt x="25927" y="602360"/>
                  </a:cubicBezTo>
                  <a:cubicBezTo>
                    <a:pt x="9326" y="585759"/>
                    <a:pt x="0" y="563244"/>
                    <a:pt x="0" y="539767"/>
                  </a:cubicBezTo>
                  <a:lnTo>
                    <a:pt x="0" y="88520"/>
                  </a:lnTo>
                  <a:cubicBezTo>
                    <a:pt x="0" y="65043"/>
                    <a:pt x="9326" y="42528"/>
                    <a:pt x="25927" y="25927"/>
                  </a:cubicBezTo>
                  <a:cubicBezTo>
                    <a:pt x="42528" y="9326"/>
                    <a:pt x="65043" y="0"/>
                    <a:pt x="88520" y="0"/>
                  </a:cubicBezTo>
                  <a:close/>
                </a:path>
              </a:pathLst>
            </a:custGeom>
            <a:blipFill>
              <a:blip r:embed="rId2"/>
              <a:stretch>
                <a:fillRect l="0" t="0" r="0" b="-22407"/>
              </a:stretch>
            </a:blipFill>
          </p:spPr>
        </p:sp>
      </p:grpSp>
      <p:grpSp>
        <p:nvGrpSpPr>
          <p:cNvPr name="Group 10" id="10"/>
          <p:cNvGrpSpPr/>
          <p:nvPr/>
        </p:nvGrpSpPr>
        <p:grpSpPr>
          <a:xfrm rot="0">
            <a:off x="9739313" y="4859726"/>
            <a:ext cx="2815128" cy="3318341"/>
            <a:chOff x="0" y="0"/>
            <a:chExt cx="428955" cy="505633"/>
          </a:xfrm>
        </p:grpSpPr>
        <p:sp>
          <p:nvSpPr>
            <p:cNvPr name="Freeform 11" id="11"/>
            <p:cNvSpPr/>
            <p:nvPr/>
          </p:nvSpPr>
          <p:spPr>
            <a:xfrm flipH="false" flipV="false" rot="0">
              <a:off x="0" y="0"/>
              <a:ext cx="428955" cy="505633"/>
            </a:xfrm>
            <a:custGeom>
              <a:avLst/>
              <a:gdLst/>
              <a:ahLst/>
              <a:cxnLst/>
              <a:rect r="r" b="b" t="t" l="l"/>
              <a:pathLst>
                <a:path h="505633" w="428955">
                  <a:moveTo>
                    <a:pt x="55002" y="0"/>
                  </a:moveTo>
                  <a:lnTo>
                    <a:pt x="373953" y="0"/>
                  </a:lnTo>
                  <a:cubicBezTo>
                    <a:pt x="388541" y="0"/>
                    <a:pt x="402531" y="5795"/>
                    <a:pt x="412846" y="16110"/>
                  </a:cubicBezTo>
                  <a:cubicBezTo>
                    <a:pt x="423161" y="26425"/>
                    <a:pt x="428955" y="40415"/>
                    <a:pt x="428955" y="55002"/>
                  </a:cubicBezTo>
                  <a:lnTo>
                    <a:pt x="428955" y="450630"/>
                  </a:lnTo>
                  <a:cubicBezTo>
                    <a:pt x="428955" y="481007"/>
                    <a:pt x="404330" y="505633"/>
                    <a:pt x="373953" y="505633"/>
                  </a:cubicBezTo>
                  <a:lnTo>
                    <a:pt x="55002" y="505633"/>
                  </a:lnTo>
                  <a:cubicBezTo>
                    <a:pt x="40415" y="505633"/>
                    <a:pt x="26425" y="499838"/>
                    <a:pt x="16110" y="489523"/>
                  </a:cubicBezTo>
                  <a:cubicBezTo>
                    <a:pt x="5795" y="479208"/>
                    <a:pt x="0" y="465218"/>
                    <a:pt x="0" y="45063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428955" cy="543733"/>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141095" y="5263806"/>
            <a:ext cx="2011563" cy="2010029"/>
            <a:chOff x="0" y="0"/>
            <a:chExt cx="628766" cy="628287"/>
          </a:xfrm>
        </p:grpSpPr>
        <p:sp>
          <p:nvSpPr>
            <p:cNvPr name="Freeform 14" id="14"/>
            <p:cNvSpPr/>
            <p:nvPr/>
          </p:nvSpPr>
          <p:spPr>
            <a:xfrm flipH="false" flipV="false" rot="0">
              <a:off x="0" y="0"/>
              <a:ext cx="628766" cy="628287"/>
            </a:xfrm>
            <a:custGeom>
              <a:avLst/>
              <a:gdLst/>
              <a:ahLst/>
              <a:cxnLst/>
              <a:rect r="r" b="b" t="t" l="l"/>
              <a:pathLst>
                <a:path h="628287" w="628766">
                  <a:moveTo>
                    <a:pt x="88520" y="0"/>
                  </a:moveTo>
                  <a:lnTo>
                    <a:pt x="540246" y="0"/>
                  </a:lnTo>
                  <a:cubicBezTo>
                    <a:pt x="563723" y="0"/>
                    <a:pt x="586239" y="9326"/>
                    <a:pt x="602839" y="25927"/>
                  </a:cubicBezTo>
                  <a:cubicBezTo>
                    <a:pt x="619440" y="42528"/>
                    <a:pt x="628766" y="65043"/>
                    <a:pt x="628766" y="88520"/>
                  </a:cubicBezTo>
                  <a:lnTo>
                    <a:pt x="628766" y="539767"/>
                  </a:lnTo>
                  <a:cubicBezTo>
                    <a:pt x="628766" y="563244"/>
                    <a:pt x="619440" y="585759"/>
                    <a:pt x="602839" y="602360"/>
                  </a:cubicBezTo>
                  <a:cubicBezTo>
                    <a:pt x="586239" y="618961"/>
                    <a:pt x="563723" y="628287"/>
                    <a:pt x="540246" y="628287"/>
                  </a:cubicBezTo>
                  <a:lnTo>
                    <a:pt x="88520" y="628287"/>
                  </a:lnTo>
                  <a:cubicBezTo>
                    <a:pt x="65043" y="628287"/>
                    <a:pt x="42528" y="618961"/>
                    <a:pt x="25927" y="602360"/>
                  </a:cubicBezTo>
                  <a:cubicBezTo>
                    <a:pt x="9326" y="585759"/>
                    <a:pt x="0" y="563244"/>
                    <a:pt x="0" y="539767"/>
                  </a:cubicBezTo>
                  <a:lnTo>
                    <a:pt x="0" y="88520"/>
                  </a:lnTo>
                  <a:cubicBezTo>
                    <a:pt x="0" y="65043"/>
                    <a:pt x="9326" y="42528"/>
                    <a:pt x="25927" y="25927"/>
                  </a:cubicBezTo>
                  <a:cubicBezTo>
                    <a:pt x="42528" y="9326"/>
                    <a:pt x="65043" y="0"/>
                    <a:pt x="88520" y="0"/>
                  </a:cubicBezTo>
                  <a:close/>
                </a:path>
              </a:pathLst>
            </a:custGeom>
            <a:blipFill>
              <a:blip r:embed="rId3"/>
              <a:stretch>
                <a:fillRect l="0" t="-13153" r="0" b="-28702"/>
              </a:stretch>
            </a:blipFill>
          </p:spPr>
        </p:sp>
      </p:grpSp>
      <p:grpSp>
        <p:nvGrpSpPr>
          <p:cNvPr name="Group 15" id="15"/>
          <p:cNvGrpSpPr/>
          <p:nvPr/>
        </p:nvGrpSpPr>
        <p:grpSpPr>
          <a:xfrm rot="0">
            <a:off x="1728357" y="4823790"/>
            <a:ext cx="2815128" cy="3318341"/>
            <a:chOff x="0" y="0"/>
            <a:chExt cx="428955" cy="505633"/>
          </a:xfrm>
        </p:grpSpPr>
        <p:sp>
          <p:nvSpPr>
            <p:cNvPr name="Freeform 16" id="16"/>
            <p:cNvSpPr/>
            <p:nvPr/>
          </p:nvSpPr>
          <p:spPr>
            <a:xfrm flipH="false" flipV="false" rot="0">
              <a:off x="0" y="0"/>
              <a:ext cx="428955" cy="505633"/>
            </a:xfrm>
            <a:custGeom>
              <a:avLst/>
              <a:gdLst/>
              <a:ahLst/>
              <a:cxnLst/>
              <a:rect r="r" b="b" t="t" l="l"/>
              <a:pathLst>
                <a:path h="505633" w="428955">
                  <a:moveTo>
                    <a:pt x="55002" y="0"/>
                  </a:moveTo>
                  <a:lnTo>
                    <a:pt x="373953" y="0"/>
                  </a:lnTo>
                  <a:cubicBezTo>
                    <a:pt x="388541" y="0"/>
                    <a:pt x="402531" y="5795"/>
                    <a:pt x="412846" y="16110"/>
                  </a:cubicBezTo>
                  <a:cubicBezTo>
                    <a:pt x="423161" y="26425"/>
                    <a:pt x="428955" y="40415"/>
                    <a:pt x="428955" y="55002"/>
                  </a:cubicBezTo>
                  <a:lnTo>
                    <a:pt x="428955" y="450630"/>
                  </a:lnTo>
                  <a:cubicBezTo>
                    <a:pt x="428955" y="481007"/>
                    <a:pt x="404330" y="505633"/>
                    <a:pt x="373953" y="505633"/>
                  </a:cubicBezTo>
                  <a:lnTo>
                    <a:pt x="55002" y="505633"/>
                  </a:lnTo>
                  <a:cubicBezTo>
                    <a:pt x="40415" y="505633"/>
                    <a:pt x="26425" y="499838"/>
                    <a:pt x="16110" y="489523"/>
                  </a:cubicBezTo>
                  <a:cubicBezTo>
                    <a:pt x="5795" y="479208"/>
                    <a:pt x="0" y="465218"/>
                    <a:pt x="0" y="45063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7" id="17"/>
            <p:cNvSpPr txBox="true"/>
            <p:nvPr/>
          </p:nvSpPr>
          <p:spPr>
            <a:xfrm>
              <a:off x="0" y="-38100"/>
              <a:ext cx="428955" cy="543733"/>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2130140" y="5227870"/>
            <a:ext cx="2011563" cy="2010029"/>
            <a:chOff x="0" y="0"/>
            <a:chExt cx="628766" cy="628287"/>
          </a:xfrm>
        </p:grpSpPr>
        <p:sp>
          <p:nvSpPr>
            <p:cNvPr name="Freeform 19" id="19"/>
            <p:cNvSpPr/>
            <p:nvPr/>
          </p:nvSpPr>
          <p:spPr>
            <a:xfrm flipH="false" flipV="false" rot="0">
              <a:off x="0" y="0"/>
              <a:ext cx="628766" cy="628287"/>
            </a:xfrm>
            <a:custGeom>
              <a:avLst/>
              <a:gdLst/>
              <a:ahLst/>
              <a:cxnLst/>
              <a:rect r="r" b="b" t="t" l="l"/>
              <a:pathLst>
                <a:path h="628287" w="628766">
                  <a:moveTo>
                    <a:pt x="88520" y="0"/>
                  </a:moveTo>
                  <a:lnTo>
                    <a:pt x="540246" y="0"/>
                  </a:lnTo>
                  <a:cubicBezTo>
                    <a:pt x="563723" y="0"/>
                    <a:pt x="586239" y="9326"/>
                    <a:pt x="602839" y="25927"/>
                  </a:cubicBezTo>
                  <a:cubicBezTo>
                    <a:pt x="619440" y="42528"/>
                    <a:pt x="628766" y="65043"/>
                    <a:pt x="628766" y="88520"/>
                  </a:cubicBezTo>
                  <a:lnTo>
                    <a:pt x="628766" y="539767"/>
                  </a:lnTo>
                  <a:cubicBezTo>
                    <a:pt x="628766" y="563244"/>
                    <a:pt x="619440" y="585759"/>
                    <a:pt x="602839" y="602360"/>
                  </a:cubicBezTo>
                  <a:cubicBezTo>
                    <a:pt x="586239" y="618961"/>
                    <a:pt x="563723" y="628287"/>
                    <a:pt x="540246" y="628287"/>
                  </a:cubicBezTo>
                  <a:lnTo>
                    <a:pt x="88520" y="628287"/>
                  </a:lnTo>
                  <a:cubicBezTo>
                    <a:pt x="65043" y="628287"/>
                    <a:pt x="42528" y="618961"/>
                    <a:pt x="25927" y="602360"/>
                  </a:cubicBezTo>
                  <a:cubicBezTo>
                    <a:pt x="9326" y="585759"/>
                    <a:pt x="0" y="563244"/>
                    <a:pt x="0" y="539767"/>
                  </a:cubicBezTo>
                  <a:lnTo>
                    <a:pt x="0" y="88520"/>
                  </a:lnTo>
                  <a:cubicBezTo>
                    <a:pt x="0" y="65043"/>
                    <a:pt x="9326" y="42528"/>
                    <a:pt x="25927" y="25927"/>
                  </a:cubicBezTo>
                  <a:cubicBezTo>
                    <a:pt x="42528" y="9326"/>
                    <a:pt x="65043" y="0"/>
                    <a:pt x="88520" y="0"/>
                  </a:cubicBezTo>
                  <a:close/>
                </a:path>
              </a:pathLst>
            </a:custGeom>
            <a:blipFill>
              <a:blip r:embed="rId4"/>
              <a:stretch>
                <a:fillRect l="-136214" t="-14499" r="-40571" b="-162700"/>
              </a:stretch>
            </a:blipFill>
          </p:spPr>
        </p:sp>
      </p:grpSp>
      <p:grpSp>
        <p:nvGrpSpPr>
          <p:cNvPr name="Group 20" id="20"/>
          <p:cNvGrpSpPr/>
          <p:nvPr/>
        </p:nvGrpSpPr>
        <p:grpSpPr>
          <a:xfrm rot="0">
            <a:off x="13744515" y="4834326"/>
            <a:ext cx="2815128" cy="3318341"/>
            <a:chOff x="0" y="0"/>
            <a:chExt cx="428955" cy="505633"/>
          </a:xfrm>
        </p:grpSpPr>
        <p:sp>
          <p:nvSpPr>
            <p:cNvPr name="Freeform 21" id="21"/>
            <p:cNvSpPr/>
            <p:nvPr/>
          </p:nvSpPr>
          <p:spPr>
            <a:xfrm flipH="false" flipV="false" rot="0">
              <a:off x="0" y="0"/>
              <a:ext cx="428955" cy="505633"/>
            </a:xfrm>
            <a:custGeom>
              <a:avLst/>
              <a:gdLst/>
              <a:ahLst/>
              <a:cxnLst/>
              <a:rect r="r" b="b" t="t" l="l"/>
              <a:pathLst>
                <a:path h="505633" w="428955">
                  <a:moveTo>
                    <a:pt x="55002" y="0"/>
                  </a:moveTo>
                  <a:lnTo>
                    <a:pt x="373953" y="0"/>
                  </a:lnTo>
                  <a:cubicBezTo>
                    <a:pt x="388541" y="0"/>
                    <a:pt x="402531" y="5795"/>
                    <a:pt x="412846" y="16110"/>
                  </a:cubicBezTo>
                  <a:cubicBezTo>
                    <a:pt x="423161" y="26425"/>
                    <a:pt x="428955" y="40415"/>
                    <a:pt x="428955" y="55002"/>
                  </a:cubicBezTo>
                  <a:lnTo>
                    <a:pt x="428955" y="450630"/>
                  </a:lnTo>
                  <a:cubicBezTo>
                    <a:pt x="428955" y="481007"/>
                    <a:pt x="404330" y="505633"/>
                    <a:pt x="373953" y="505633"/>
                  </a:cubicBezTo>
                  <a:lnTo>
                    <a:pt x="55002" y="505633"/>
                  </a:lnTo>
                  <a:cubicBezTo>
                    <a:pt x="40415" y="505633"/>
                    <a:pt x="26425" y="499838"/>
                    <a:pt x="16110" y="489523"/>
                  </a:cubicBezTo>
                  <a:cubicBezTo>
                    <a:pt x="5795" y="479208"/>
                    <a:pt x="0" y="465218"/>
                    <a:pt x="0" y="45063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2" id="22"/>
            <p:cNvSpPr txBox="true"/>
            <p:nvPr/>
          </p:nvSpPr>
          <p:spPr>
            <a:xfrm>
              <a:off x="0" y="-38100"/>
              <a:ext cx="428955" cy="543733"/>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4146298" y="5238406"/>
            <a:ext cx="2011563" cy="2010029"/>
            <a:chOff x="0" y="0"/>
            <a:chExt cx="628766" cy="628287"/>
          </a:xfrm>
        </p:grpSpPr>
        <p:sp>
          <p:nvSpPr>
            <p:cNvPr name="Freeform 24" id="24"/>
            <p:cNvSpPr/>
            <p:nvPr/>
          </p:nvSpPr>
          <p:spPr>
            <a:xfrm flipH="false" flipV="false" rot="0">
              <a:off x="0" y="0"/>
              <a:ext cx="628766" cy="628287"/>
            </a:xfrm>
            <a:custGeom>
              <a:avLst/>
              <a:gdLst/>
              <a:ahLst/>
              <a:cxnLst/>
              <a:rect r="r" b="b" t="t" l="l"/>
              <a:pathLst>
                <a:path h="628287" w="628766">
                  <a:moveTo>
                    <a:pt x="88520" y="0"/>
                  </a:moveTo>
                  <a:lnTo>
                    <a:pt x="540246" y="0"/>
                  </a:lnTo>
                  <a:cubicBezTo>
                    <a:pt x="563723" y="0"/>
                    <a:pt x="586239" y="9326"/>
                    <a:pt x="602839" y="25927"/>
                  </a:cubicBezTo>
                  <a:cubicBezTo>
                    <a:pt x="619440" y="42528"/>
                    <a:pt x="628766" y="65043"/>
                    <a:pt x="628766" y="88520"/>
                  </a:cubicBezTo>
                  <a:lnTo>
                    <a:pt x="628766" y="539767"/>
                  </a:lnTo>
                  <a:cubicBezTo>
                    <a:pt x="628766" y="563244"/>
                    <a:pt x="619440" y="585759"/>
                    <a:pt x="602839" y="602360"/>
                  </a:cubicBezTo>
                  <a:cubicBezTo>
                    <a:pt x="586239" y="618961"/>
                    <a:pt x="563723" y="628287"/>
                    <a:pt x="540246" y="628287"/>
                  </a:cubicBezTo>
                  <a:lnTo>
                    <a:pt x="88520" y="628287"/>
                  </a:lnTo>
                  <a:cubicBezTo>
                    <a:pt x="65043" y="628287"/>
                    <a:pt x="42528" y="618961"/>
                    <a:pt x="25927" y="602360"/>
                  </a:cubicBezTo>
                  <a:cubicBezTo>
                    <a:pt x="9326" y="585759"/>
                    <a:pt x="0" y="563244"/>
                    <a:pt x="0" y="539767"/>
                  </a:cubicBezTo>
                  <a:lnTo>
                    <a:pt x="0" y="88520"/>
                  </a:lnTo>
                  <a:cubicBezTo>
                    <a:pt x="0" y="65043"/>
                    <a:pt x="9326" y="42528"/>
                    <a:pt x="25927" y="25927"/>
                  </a:cubicBezTo>
                  <a:cubicBezTo>
                    <a:pt x="42528" y="9326"/>
                    <a:pt x="65043" y="0"/>
                    <a:pt x="88520" y="0"/>
                  </a:cubicBezTo>
                  <a:close/>
                </a:path>
              </a:pathLst>
            </a:custGeom>
            <a:blipFill>
              <a:blip r:embed="rId5"/>
              <a:stretch>
                <a:fillRect l="0" t="0" r="0" b="-28793"/>
              </a:stretch>
            </a:blipFill>
          </p:spPr>
        </p:sp>
      </p:grpSp>
      <p:sp>
        <p:nvSpPr>
          <p:cNvPr name="TextBox 25" id="25"/>
          <p:cNvSpPr txBox="true"/>
          <p:nvPr/>
        </p:nvSpPr>
        <p:spPr>
          <a:xfrm rot="0">
            <a:off x="3147724" y="1816657"/>
            <a:ext cx="11992551" cy="1876806"/>
          </a:xfrm>
          <a:prstGeom prst="rect">
            <a:avLst/>
          </a:prstGeom>
        </p:spPr>
        <p:txBody>
          <a:bodyPr anchor="t" rtlCol="false" tIns="0" lIns="0" bIns="0" rIns="0">
            <a:spAutoFit/>
          </a:bodyPr>
          <a:lstStyle/>
          <a:p>
            <a:pPr algn="ctr">
              <a:lnSpc>
                <a:spcPts val="6912"/>
              </a:lnSpc>
            </a:pPr>
            <a:r>
              <a:rPr lang="en-US" b="true" sz="7200">
                <a:solidFill>
                  <a:srgbClr val="FFFFFF"/>
                </a:solidFill>
                <a:latin typeface="Poppins Bold"/>
                <a:ea typeface="Poppins Bold"/>
                <a:cs typeface="Poppins Bold"/>
                <a:sym typeface="Poppins Bold"/>
              </a:rPr>
              <a:t>FROM PHOTO TO SOLVED CROSSWORD</a:t>
            </a:r>
          </a:p>
        </p:txBody>
      </p:sp>
      <p:sp>
        <p:nvSpPr>
          <p:cNvPr name="TextBox 26" id="26"/>
          <p:cNvSpPr txBox="true"/>
          <p:nvPr/>
        </p:nvSpPr>
        <p:spPr>
          <a:xfrm rot="0">
            <a:off x="3682852" y="1305989"/>
            <a:ext cx="10922297" cy="473075"/>
          </a:xfrm>
          <a:prstGeom prst="rect">
            <a:avLst/>
          </a:prstGeom>
        </p:spPr>
        <p:txBody>
          <a:bodyPr anchor="t" rtlCol="false" tIns="0" lIns="0" bIns="0" rIns="0">
            <a:spAutoFit/>
          </a:bodyPr>
          <a:lstStyle/>
          <a:p>
            <a:pPr algn="ctr">
              <a:lnSpc>
                <a:spcPts val="3910"/>
              </a:lnSpc>
            </a:pPr>
            <a:r>
              <a:rPr lang="en-US" sz="2300" spc="1104">
                <a:solidFill>
                  <a:srgbClr val="FFFFFF"/>
                </a:solidFill>
                <a:latin typeface="Poppins"/>
                <a:ea typeface="Poppins"/>
                <a:cs typeface="Poppins"/>
                <a:sym typeface="Poppins"/>
              </a:rPr>
              <a:t>FINAL PRESENTATION</a:t>
            </a:r>
          </a:p>
        </p:txBody>
      </p:sp>
      <p:sp>
        <p:nvSpPr>
          <p:cNvPr name="TextBox 27" id="27"/>
          <p:cNvSpPr txBox="true"/>
          <p:nvPr/>
        </p:nvSpPr>
        <p:spPr>
          <a:xfrm rot="0">
            <a:off x="4613380" y="3610940"/>
            <a:ext cx="9061241"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St</a:t>
            </a:r>
            <a:r>
              <a:rPr lang="en-US" sz="2000">
                <a:solidFill>
                  <a:srgbClr val="FFFFFF"/>
                </a:solidFill>
                <a:latin typeface="Poppins"/>
                <a:ea typeface="Poppins"/>
                <a:cs typeface="Poppins"/>
                <a:sym typeface="Poppins"/>
              </a:rPr>
              <a:t>ructure Understanding, OCR, and Hybrid Solving</a:t>
            </a:r>
          </a:p>
        </p:txBody>
      </p:sp>
      <p:sp>
        <p:nvSpPr>
          <p:cNvPr name="TextBox 28" id="28"/>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a:t>
            </a:r>
          </a:p>
        </p:txBody>
      </p:sp>
      <p:sp>
        <p:nvSpPr>
          <p:cNvPr name="TextBox 29" id="29"/>
          <p:cNvSpPr txBox="true"/>
          <p:nvPr/>
        </p:nvSpPr>
        <p:spPr>
          <a:xfrm rot="0">
            <a:off x="6003283" y="8557636"/>
            <a:ext cx="2336783"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Moustafa Elmehy</a:t>
            </a:r>
          </a:p>
        </p:txBody>
      </p:sp>
      <p:sp>
        <p:nvSpPr>
          <p:cNvPr name="TextBox 30" id="30"/>
          <p:cNvSpPr txBox="true"/>
          <p:nvPr/>
        </p:nvSpPr>
        <p:spPr>
          <a:xfrm rot="0">
            <a:off x="10008486" y="8583036"/>
            <a:ext cx="2336783"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Ali Elshafey</a:t>
            </a:r>
          </a:p>
        </p:txBody>
      </p:sp>
      <p:sp>
        <p:nvSpPr>
          <p:cNvPr name="TextBox 31" id="31"/>
          <p:cNvSpPr txBox="true"/>
          <p:nvPr/>
        </p:nvSpPr>
        <p:spPr>
          <a:xfrm rot="0">
            <a:off x="1874747" y="8557636"/>
            <a:ext cx="2545954"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Mohamed Ibrahim</a:t>
            </a:r>
          </a:p>
        </p:txBody>
      </p:sp>
      <p:sp>
        <p:nvSpPr>
          <p:cNvPr name="TextBox 32" id="32"/>
          <p:cNvSpPr txBox="true"/>
          <p:nvPr/>
        </p:nvSpPr>
        <p:spPr>
          <a:xfrm rot="0">
            <a:off x="14013689" y="8557636"/>
            <a:ext cx="2336783"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Mustafa Hussein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7184448" y="9324975"/>
            <a:ext cx="608679" cy="602564"/>
            <a:chOff x="0" y="0"/>
            <a:chExt cx="85797" cy="84935"/>
          </a:xfrm>
        </p:grpSpPr>
        <p:sp>
          <p:nvSpPr>
            <p:cNvPr name="Freeform 3" id="3"/>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pic>
        <p:nvPicPr>
          <p:cNvPr name="Picture 5" id="5"/>
          <p:cNvPicPr>
            <a:picLocks noChangeAspect="true"/>
          </p:cNvPicPr>
          <p:nvPr/>
        </p:nvPicPr>
        <p:blipFill>
          <a:blip r:embed="rId2"/>
          <a:stretch>
            <a:fillRect/>
          </a:stretch>
        </p:blipFill>
        <p:spPr>
          <a:xfrm rot="0">
            <a:off x="2763743" y="5027273"/>
            <a:ext cx="1325964" cy="561633"/>
          </a:xfrm>
          <a:prstGeom prst="rect">
            <a:avLst/>
          </a:prstGeom>
        </p:spPr>
      </p:pic>
      <p:grpSp>
        <p:nvGrpSpPr>
          <p:cNvPr name="Group 6" id="6"/>
          <p:cNvGrpSpPr/>
          <p:nvPr/>
        </p:nvGrpSpPr>
        <p:grpSpPr>
          <a:xfrm rot="0">
            <a:off x="4117742" y="5159403"/>
            <a:ext cx="3264751" cy="1008074"/>
            <a:chOff x="0" y="0"/>
            <a:chExt cx="4353002" cy="1344099"/>
          </a:xfrm>
        </p:grpSpPr>
        <p:sp>
          <p:nvSpPr>
            <p:cNvPr name="TextBox 7" id="7"/>
            <p:cNvSpPr txBox="true"/>
            <p:nvPr/>
          </p:nvSpPr>
          <p:spPr>
            <a:xfrm rot="0">
              <a:off x="0" y="-47625"/>
              <a:ext cx="4353002" cy="877358"/>
            </a:xfrm>
            <a:prstGeom prst="rect">
              <a:avLst/>
            </a:prstGeom>
          </p:spPr>
          <p:txBody>
            <a:bodyPr anchor="t" rtlCol="false" tIns="0" lIns="0" bIns="0" rIns="0">
              <a:spAutoFit/>
            </a:bodyPr>
            <a:lstStyle/>
            <a:p>
              <a:pPr algn="ctr">
                <a:lnSpc>
                  <a:spcPts val="2600"/>
                </a:lnSpc>
              </a:pPr>
              <a:r>
                <a:rPr lang="en-US" sz="2000" b="true">
                  <a:solidFill>
                    <a:srgbClr val="FBFCFA"/>
                  </a:solidFill>
                  <a:latin typeface="Poppins Bold"/>
                  <a:ea typeface="Poppins Bold"/>
                  <a:cs typeface="Poppins Bold"/>
                  <a:sym typeface="Poppins Bold"/>
                </a:rPr>
                <a:t>Preprocessed Image</a:t>
              </a:r>
            </a:p>
            <a:p>
              <a:pPr algn="ctr" marL="0" indent="0" lvl="0">
                <a:lnSpc>
                  <a:spcPts val="2600"/>
                </a:lnSpc>
                <a:spcBef>
                  <a:spcPct val="0"/>
                </a:spcBef>
              </a:pPr>
            </a:p>
          </p:txBody>
        </p:sp>
        <p:sp>
          <p:nvSpPr>
            <p:cNvPr name="TextBox 8" id="8"/>
            <p:cNvSpPr txBox="true"/>
            <p:nvPr/>
          </p:nvSpPr>
          <p:spPr>
            <a:xfrm rot="0">
              <a:off x="0" y="898540"/>
              <a:ext cx="4353002" cy="445558"/>
            </a:xfrm>
            <a:prstGeom prst="rect">
              <a:avLst/>
            </a:prstGeom>
          </p:spPr>
          <p:txBody>
            <a:bodyPr anchor="t" rtlCol="false" tIns="0" lIns="0" bIns="0" rIns="0">
              <a:spAutoFit/>
            </a:bodyPr>
            <a:lstStyle/>
            <a:p>
              <a:pPr algn="ctr" marL="0" indent="0" lvl="0">
                <a:lnSpc>
                  <a:spcPts val="2600"/>
                </a:lnSpc>
                <a:spcBef>
                  <a:spcPct val="0"/>
                </a:spcBef>
              </a:pPr>
            </a:p>
          </p:txBody>
        </p:sp>
      </p:grpSp>
      <p:pic>
        <p:nvPicPr>
          <p:cNvPr name="Picture 9" id="9"/>
          <p:cNvPicPr>
            <a:picLocks noChangeAspect="true"/>
          </p:cNvPicPr>
          <p:nvPr/>
        </p:nvPicPr>
        <p:blipFill>
          <a:blip r:embed="rId3"/>
          <a:stretch>
            <a:fillRect/>
          </a:stretch>
        </p:blipFill>
        <p:spPr>
          <a:xfrm rot="0">
            <a:off x="7404187" y="5026662"/>
            <a:ext cx="1402061" cy="593865"/>
          </a:xfrm>
          <a:prstGeom prst="rect">
            <a:avLst/>
          </a:prstGeom>
        </p:spPr>
      </p:pic>
      <p:pic>
        <p:nvPicPr>
          <p:cNvPr name="Picture 10" id="10"/>
          <p:cNvPicPr>
            <a:picLocks noChangeAspect="true"/>
          </p:cNvPicPr>
          <p:nvPr/>
        </p:nvPicPr>
        <p:blipFill>
          <a:blip r:embed="rId4"/>
          <a:stretch>
            <a:fillRect/>
          </a:stretch>
        </p:blipFill>
        <p:spPr>
          <a:xfrm rot="0">
            <a:off x="12515018" y="5033003"/>
            <a:ext cx="1325964" cy="561633"/>
          </a:xfrm>
          <a:prstGeom prst="rect">
            <a:avLst/>
          </a:prstGeom>
        </p:spPr>
      </p:pic>
      <p:sp>
        <p:nvSpPr>
          <p:cNvPr name="TextBox 11" id="11"/>
          <p:cNvSpPr txBox="true"/>
          <p:nvPr/>
        </p:nvSpPr>
        <p:spPr>
          <a:xfrm rot="0">
            <a:off x="1028700" y="315634"/>
            <a:ext cx="7913456" cy="3083306"/>
          </a:xfrm>
          <a:prstGeom prst="rect">
            <a:avLst/>
          </a:prstGeom>
        </p:spPr>
        <p:txBody>
          <a:bodyPr anchor="t" rtlCol="false" tIns="0" lIns="0" bIns="0" rIns="0">
            <a:spAutoFit/>
          </a:bodyPr>
          <a:lstStyle/>
          <a:p>
            <a:pPr algn="ctr">
              <a:lnSpc>
                <a:spcPts val="5991"/>
              </a:lnSpc>
            </a:pPr>
          </a:p>
          <a:p>
            <a:pPr algn="ctr">
              <a:lnSpc>
                <a:spcPts val="5991"/>
              </a:lnSpc>
            </a:pPr>
            <a:r>
              <a:rPr lang="en-US" sz="5599" b="true">
                <a:solidFill>
                  <a:srgbClr val="FFFFFF"/>
                </a:solidFill>
                <a:latin typeface="Poppins Bold"/>
                <a:ea typeface="Poppins Bold"/>
                <a:cs typeface="Poppins Bold"/>
                <a:sym typeface="Poppins Bold"/>
              </a:rPr>
              <a:t>Project Goal</a:t>
            </a:r>
          </a:p>
          <a:p>
            <a:pPr algn="ctr">
              <a:lnSpc>
                <a:spcPts val="5991"/>
              </a:lnSpc>
            </a:pPr>
          </a:p>
          <a:p>
            <a:pPr algn="ctr">
              <a:lnSpc>
                <a:spcPts val="5991"/>
              </a:lnSpc>
            </a:pPr>
          </a:p>
        </p:txBody>
      </p:sp>
      <p:sp>
        <p:nvSpPr>
          <p:cNvPr name="TextBox 12" id="12"/>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a:t>
            </a:r>
          </a:p>
        </p:txBody>
      </p:sp>
      <p:grpSp>
        <p:nvGrpSpPr>
          <p:cNvPr name="Group 13" id="13"/>
          <p:cNvGrpSpPr/>
          <p:nvPr/>
        </p:nvGrpSpPr>
        <p:grpSpPr>
          <a:xfrm rot="0">
            <a:off x="346800" y="5166291"/>
            <a:ext cx="2867825" cy="682759"/>
            <a:chOff x="0" y="0"/>
            <a:chExt cx="3823767" cy="910345"/>
          </a:xfrm>
        </p:grpSpPr>
        <p:sp>
          <p:nvSpPr>
            <p:cNvPr name="TextBox 14" id="14"/>
            <p:cNvSpPr txBox="true"/>
            <p:nvPr/>
          </p:nvSpPr>
          <p:spPr>
            <a:xfrm rot="0">
              <a:off x="0" y="-47625"/>
              <a:ext cx="3823767" cy="445558"/>
            </a:xfrm>
            <a:prstGeom prst="rect">
              <a:avLst/>
            </a:prstGeom>
          </p:spPr>
          <p:txBody>
            <a:bodyPr anchor="t" rtlCol="false" tIns="0" lIns="0" bIns="0" rIns="0">
              <a:spAutoFit/>
            </a:bodyPr>
            <a:lstStyle/>
            <a:p>
              <a:pPr algn="ctr" marL="0" indent="0" lvl="0">
                <a:lnSpc>
                  <a:spcPts val="2600"/>
                </a:lnSpc>
                <a:spcBef>
                  <a:spcPct val="0"/>
                </a:spcBef>
              </a:pPr>
              <a:r>
                <a:rPr lang="en-US" b="true" sz="2000">
                  <a:solidFill>
                    <a:srgbClr val="FBFCFA"/>
                  </a:solidFill>
                  <a:latin typeface="Poppins Bold"/>
                  <a:ea typeface="Poppins Bold"/>
                  <a:cs typeface="Poppins Bold"/>
                  <a:sym typeface="Poppins Bold"/>
                </a:rPr>
                <a:t>Photo</a:t>
              </a:r>
            </a:p>
          </p:txBody>
        </p:sp>
        <p:sp>
          <p:nvSpPr>
            <p:cNvPr name="TextBox 15" id="15"/>
            <p:cNvSpPr txBox="true"/>
            <p:nvPr/>
          </p:nvSpPr>
          <p:spPr>
            <a:xfrm rot="0">
              <a:off x="0" y="464786"/>
              <a:ext cx="3823767" cy="445558"/>
            </a:xfrm>
            <a:prstGeom prst="rect">
              <a:avLst/>
            </a:prstGeom>
          </p:spPr>
          <p:txBody>
            <a:bodyPr anchor="t" rtlCol="false" tIns="0" lIns="0" bIns="0" rIns="0">
              <a:spAutoFit/>
            </a:bodyPr>
            <a:lstStyle/>
            <a:p>
              <a:pPr algn="ctr" marL="0" indent="0" lvl="0">
                <a:lnSpc>
                  <a:spcPts val="2600"/>
                </a:lnSpc>
                <a:spcBef>
                  <a:spcPct val="0"/>
                </a:spcBef>
              </a:pPr>
            </a:p>
          </p:txBody>
        </p:sp>
      </p:grpSp>
      <p:grpSp>
        <p:nvGrpSpPr>
          <p:cNvPr name="Group 16" id="16"/>
          <p:cNvGrpSpPr/>
          <p:nvPr/>
        </p:nvGrpSpPr>
        <p:grpSpPr>
          <a:xfrm rot="0">
            <a:off x="1235128" y="6876932"/>
            <a:ext cx="15452707" cy="3891915"/>
            <a:chOff x="0" y="0"/>
            <a:chExt cx="20603609" cy="5189220"/>
          </a:xfrm>
        </p:grpSpPr>
        <p:sp>
          <p:nvSpPr>
            <p:cNvPr name="TextBox 17" id="17"/>
            <p:cNvSpPr txBox="true"/>
            <p:nvPr/>
          </p:nvSpPr>
          <p:spPr>
            <a:xfrm rot="0">
              <a:off x="0" y="-66675"/>
              <a:ext cx="20603609" cy="2220595"/>
            </a:xfrm>
            <a:prstGeom prst="rect">
              <a:avLst/>
            </a:prstGeom>
          </p:spPr>
          <p:txBody>
            <a:bodyPr anchor="t" rtlCol="false" tIns="0" lIns="0" bIns="0" rIns="0">
              <a:spAutoFit/>
            </a:bodyPr>
            <a:lstStyle/>
            <a:p>
              <a:pPr algn="l">
                <a:lnSpc>
                  <a:spcPts val="3359"/>
                </a:lnSpc>
              </a:pPr>
              <a:r>
                <a:rPr lang="en-US" sz="2399">
                  <a:solidFill>
                    <a:srgbClr val="FBFCFA"/>
                  </a:solidFill>
                  <a:latin typeface="Poppins"/>
                  <a:ea typeface="Poppins"/>
                  <a:cs typeface="Poppins"/>
                  <a:sym typeface="Poppins"/>
                </a:rPr>
                <a:t>• OCR alone is not enough</a:t>
              </a:r>
            </a:p>
            <a:p>
              <a:pPr algn="l">
                <a:lnSpc>
                  <a:spcPts val="3359"/>
                </a:lnSpc>
              </a:pPr>
            </a:p>
            <a:p>
              <a:pPr algn="l">
                <a:lnSpc>
                  <a:spcPts val="3359"/>
                </a:lnSpc>
              </a:pPr>
              <a:r>
                <a:rPr lang="en-US" sz="2399">
                  <a:solidFill>
                    <a:srgbClr val="FBFCFA"/>
                  </a:solidFill>
                  <a:latin typeface="Poppins"/>
                  <a:ea typeface="Poppins"/>
                  <a:cs typeface="Poppins"/>
                  <a:sym typeface="Poppins"/>
                </a:rPr>
                <a:t>• We must understand the puzzle structure</a:t>
              </a:r>
            </a:p>
            <a:p>
              <a:pPr algn="l" marL="0" indent="0" lvl="0">
                <a:lnSpc>
                  <a:spcPts val="3359"/>
                </a:lnSpc>
                <a:spcBef>
                  <a:spcPct val="0"/>
                </a:spcBef>
              </a:pPr>
            </a:p>
          </p:txBody>
        </p:sp>
        <p:sp>
          <p:nvSpPr>
            <p:cNvPr name="TextBox 18" id="18"/>
            <p:cNvSpPr txBox="true"/>
            <p:nvPr/>
          </p:nvSpPr>
          <p:spPr>
            <a:xfrm rot="0">
              <a:off x="0" y="4661535"/>
              <a:ext cx="6132896" cy="527685"/>
            </a:xfrm>
            <a:prstGeom prst="rect">
              <a:avLst/>
            </a:prstGeom>
          </p:spPr>
          <p:txBody>
            <a:bodyPr anchor="t" rtlCol="false" tIns="0" lIns="0" bIns="0" rIns="0">
              <a:spAutoFit/>
            </a:bodyPr>
            <a:lstStyle/>
            <a:p>
              <a:pPr algn="l" marL="0" indent="0" lvl="0">
                <a:lnSpc>
                  <a:spcPts val="3119"/>
                </a:lnSpc>
                <a:spcBef>
                  <a:spcPct val="0"/>
                </a:spcBef>
              </a:pPr>
            </a:p>
          </p:txBody>
        </p:sp>
      </p:grpSp>
      <p:sp>
        <p:nvSpPr>
          <p:cNvPr name="TextBox 19" id="19"/>
          <p:cNvSpPr txBox="true"/>
          <p:nvPr/>
        </p:nvSpPr>
        <p:spPr>
          <a:xfrm rot="0">
            <a:off x="1631032" y="2822110"/>
            <a:ext cx="9171312" cy="584849"/>
          </a:xfrm>
          <a:prstGeom prst="rect">
            <a:avLst/>
          </a:prstGeom>
        </p:spPr>
        <p:txBody>
          <a:bodyPr anchor="t" rtlCol="false" tIns="0" lIns="0" bIns="0" rIns="0">
            <a:spAutoFit/>
          </a:bodyPr>
          <a:lstStyle/>
          <a:p>
            <a:pPr algn="l">
              <a:lnSpc>
                <a:spcPts val="2220"/>
              </a:lnSpc>
            </a:pPr>
            <a:r>
              <a:rPr lang="en-US" sz="2312">
                <a:solidFill>
                  <a:srgbClr val="FFFFFF"/>
                </a:solidFill>
                <a:latin typeface="Poppins"/>
                <a:ea typeface="Poppins"/>
                <a:cs typeface="Poppins"/>
                <a:sym typeface="Poppins"/>
              </a:rPr>
              <a:t>TAKE A PHOTO OF A CROSSWORD PUZZLE AND SOLVE IT DIRECTLY</a:t>
            </a:r>
          </a:p>
          <a:p>
            <a:pPr algn="l">
              <a:lnSpc>
                <a:spcPts val="2220"/>
              </a:lnSpc>
            </a:pPr>
          </a:p>
        </p:txBody>
      </p:sp>
      <p:grpSp>
        <p:nvGrpSpPr>
          <p:cNvPr name="Group 20" id="20"/>
          <p:cNvGrpSpPr/>
          <p:nvPr/>
        </p:nvGrpSpPr>
        <p:grpSpPr>
          <a:xfrm rot="0">
            <a:off x="8961481" y="5166291"/>
            <a:ext cx="3264751" cy="1008074"/>
            <a:chOff x="0" y="0"/>
            <a:chExt cx="4353002" cy="1344099"/>
          </a:xfrm>
        </p:grpSpPr>
        <p:sp>
          <p:nvSpPr>
            <p:cNvPr name="TextBox 21" id="21"/>
            <p:cNvSpPr txBox="true"/>
            <p:nvPr/>
          </p:nvSpPr>
          <p:spPr>
            <a:xfrm rot="0">
              <a:off x="0" y="-47625"/>
              <a:ext cx="4353002" cy="877358"/>
            </a:xfrm>
            <a:prstGeom prst="rect">
              <a:avLst/>
            </a:prstGeom>
          </p:spPr>
          <p:txBody>
            <a:bodyPr anchor="t" rtlCol="false" tIns="0" lIns="0" bIns="0" rIns="0">
              <a:spAutoFit/>
            </a:bodyPr>
            <a:lstStyle/>
            <a:p>
              <a:pPr algn="ctr">
                <a:lnSpc>
                  <a:spcPts val="2600"/>
                </a:lnSpc>
              </a:pPr>
              <a:r>
                <a:rPr lang="en-US" sz="2000" b="true">
                  <a:solidFill>
                    <a:srgbClr val="FBFCFA"/>
                  </a:solidFill>
                  <a:latin typeface="Poppins Bold"/>
                  <a:ea typeface="Poppins Bold"/>
                  <a:cs typeface="Poppins Bold"/>
                  <a:sym typeface="Poppins Bold"/>
                </a:rPr>
                <a:t>Structure Extraction </a:t>
              </a:r>
            </a:p>
            <a:p>
              <a:pPr algn="ctr" marL="0" indent="0" lvl="0">
                <a:lnSpc>
                  <a:spcPts val="2600"/>
                </a:lnSpc>
                <a:spcBef>
                  <a:spcPct val="0"/>
                </a:spcBef>
              </a:pPr>
            </a:p>
          </p:txBody>
        </p:sp>
        <p:sp>
          <p:nvSpPr>
            <p:cNvPr name="TextBox 22" id="22"/>
            <p:cNvSpPr txBox="true"/>
            <p:nvPr/>
          </p:nvSpPr>
          <p:spPr>
            <a:xfrm rot="0">
              <a:off x="0" y="898540"/>
              <a:ext cx="4353002" cy="445558"/>
            </a:xfrm>
            <a:prstGeom prst="rect">
              <a:avLst/>
            </a:prstGeom>
          </p:spPr>
          <p:txBody>
            <a:bodyPr anchor="t" rtlCol="false" tIns="0" lIns="0" bIns="0" rIns="0">
              <a:spAutoFit/>
            </a:bodyPr>
            <a:lstStyle/>
            <a:p>
              <a:pPr algn="ctr" marL="0" indent="0" lvl="0">
                <a:lnSpc>
                  <a:spcPts val="2600"/>
                </a:lnSpc>
                <a:spcBef>
                  <a:spcPct val="0"/>
                </a:spcBef>
              </a:pPr>
            </a:p>
          </p:txBody>
        </p:sp>
      </p:grpSp>
      <p:grpSp>
        <p:nvGrpSpPr>
          <p:cNvPr name="Group 23" id="23"/>
          <p:cNvGrpSpPr/>
          <p:nvPr/>
        </p:nvGrpSpPr>
        <p:grpSpPr>
          <a:xfrm rot="0">
            <a:off x="13579674" y="5159403"/>
            <a:ext cx="3264751" cy="1008074"/>
            <a:chOff x="0" y="0"/>
            <a:chExt cx="4353002" cy="1344099"/>
          </a:xfrm>
        </p:grpSpPr>
        <p:sp>
          <p:nvSpPr>
            <p:cNvPr name="TextBox 24" id="24"/>
            <p:cNvSpPr txBox="true"/>
            <p:nvPr/>
          </p:nvSpPr>
          <p:spPr>
            <a:xfrm rot="0">
              <a:off x="0" y="-47625"/>
              <a:ext cx="4353002" cy="877358"/>
            </a:xfrm>
            <a:prstGeom prst="rect">
              <a:avLst/>
            </a:prstGeom>
          </p:spPr>
          <p:txBody>
            <a:bodyPr anchor="t" rtlCol="false" tIns="0" lIns="0" bIns="0" rIns="0">
              <a:spAutoFit/>
            </a:bodyPr>
            <a:lstStyle/>
            <a:p>
              <a:pPr algn="ctr">
                <a:lnSpc>
                  <a:spcPts val="2600"/>
                </a:lnSpc>
              </a:pPr>
              <a:r>
                <a:rPr lang="en-US" sz="2000" b="true">
                  <a:solidFill>
                    <a:srgbClr val="FBFCFA"/>
                  </a:solidFill>
                  <a:latin typeface="Poppins Bold"/>
                  <a:ea typeface="Poppins Bold"/>
                  <a:cs typeface="Poppins Bold"/>
                  <a:sym typeface="Poppins Bold"/>
                </a:rPr>
                <a:t>Answers</a:t>
              </a:r>
            </a:p>
            <a:p>
              <a:pPr algn="ctr" marL="0" indent="0" lvl="0">
                <a:lnSpc>
                  <a:spcPts val="2600"/>
                </a:lnSpc>
                <a:spcBef>
                  <a:spcPct val="0"/>
                </a:spcBef>
              </a:pPr>
            </a:p>
          </p:txBody>
        </p:sp>
        <p:sp>
          <p:nvSpPr>
            <p:cNvPr name="TextBox 25" id="25"/>
            <p:cNvSpPr txBox="true"/>
            <p:nvPr/>
          </p:nvSpPr>
          <p:spPr>
            <a:xfrm rot="0">
              <a:off x="0" y="898540"/>
              <a:ext cx="4353002" cy="445558"/>
            </a:xfrm>
            <a:prstGeom prst="rect">
              <a:avLst/>
            </a:prstGeom>
          </p:spPr>
          <p:txBody>
            <a:bodyPr anchor="t" rtlCol="false" tIns="0" lIns="0" bIns="0" rIns="0">
              <a:spAutoFit/>
            </a:bodyPr>
            <a:lstStyle/>
            <a:p>
              <a:pPr algn="ctr" marL="0" indent="0" lvl="0">
                <a:lnSpc>
                  <a:spcPts val="2600"/>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477484" y="2868469"/>
            <a:ext cx="8513670" cy="1954537"/>
            <a:chOff x="0" y="0"/>
            <a:chExt cx="1421743" cy="326399"/>
          </a:xfrm>
        </p:grpSpPr>
        <p:sp>
          <p:nvSpPr>
            <p:cNvPr name="Freeform 3" id="3"/>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77484" y="5056507"/>
            <a:ext cx="8513670" cy="1954537"/>
            <a:chOff x="0" y="0"/>
            <a:chExt cx="1421743" cy="326399"/>
          </a:xfrm>
        </p:grpSpPr>
        <p:sp>
          <p:nvSpPr>
            <p:cNvPr name="Freeform 6" id="6"/>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7" id="7"/>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20847" y="3354254"/>
            <a:ext cx="355951" cy="355951"/>
          </a:xfrm>
          <a:custGeom>
            <a:avLst/>
            <a:gdLst/>
            <a:ahLst/>
            <a:cxnLst/>
            <a:rect r="r" b="b" t="t" l="l"/>
            <a:pathLst>
              <a:path h="355951" w="355951">
                <a:moveTo>
                  <a:pt x="0" y="0"/>
                </a:moveTo>
                <a:lnTo>
                  <a:pt x="355951" y="0"/>
                </a:lnTo>
                <a:lnTo>
                  <a:pt x="355951" y="355951"/>
                </a:lnTo>
                <a:lnTo>
                  <a:pt x="0" y="35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20847" y="5549031"/>
            <a:ext cx="355951" cy="340690"/>
          </a:xfrm>
          <a:custGeom>
            <a:avLst/>
            <a:gdLst/>
            <a:ahLst/>
            <a:cxnLst/>
            <a:rect r="r" b="b" t="t" l="l"/>
            <a:pathLst>
              <a:path h="340690" w="355951">
                <a:moveTo>
                  <a:pt x="0" y="0"/>
                </a:moveTo>
                <a:lnTo>
                  <a:pt x="355951" y="0"/>
                </a:lnTo>
                <a:lnTo>
                  <a:pt x="355951" y="340691"/>
                </a:lnTo>
                <a:lnTo>
                  <a:pt x="0" y="3406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283361" y="5444739"/>
            <a:ext cx="6924029" cy="42545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Image</a:t>
            </a:r>
            <a:r>
              <a:rPr lang="en-US" sz="2000">
                <a:solidFill>
                  <a:srgbClr val="FFFFFF"/>
                </a:solidFill>
                <a:latin typeface="Poppins"/>
                <a:ea typeface="Poppins"/>
                <a:cs typeface="Poppins"/>
                <a:sym typeface="Poppins"/>
              </a:rPr>
              <a:t>s were clean and easy to process</a:t>
            </a:r>
          </a:p>
        </p:txBody>
      </p:sp>
      <p:grpSp>
        <p:nvGrpSpPr>
          <p:cNvPr name="Group 11" id="11"/>
          <p:cNvGrpSpPr/>
          <p:nvPr/>
        </p:nvGrpSpPr>
        <p:grpSpPr>
          <a:xfrm rot="0">
            <a:off x="448175" y="7244196"/>
            <a:ext cx="8513670" cy="1954537"/>
            <a:chOff x="0" y="0"/>
            <a:chExt cx="1421743" cy="326399"/>
          </a:xfrm>
        </p:grpSpPr>
        <p:sp>
          <p:nvSpPr>
            <p:cNvPr name="Freeform 12" id="12"/>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3" id="13"/>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91538" y="7736721"/>
            <a:ext cx="355951" cy="340690"/>
          </a:xfrm>
          <a:custGeom>
            <a:avLst/>
            <a:gdLst/>
            <a:ahLst/>
            <a:cxnLst/>
            <a:rect r="r" b="b" t="t" l="l"/>
            <a:pathLst>
              <a:path h="340690" w="355951">
                <a:moveTo>
                  <a:pt x="0" y="0"/>
                </a:moveTo>
                <a:lnTo>
                  <a:pt x="355951" y="0"/>
                </a:lnTo>
                <a:lnTo>
                  <a:pt x="355951" y="340691"/>
                </a:lnTo>
                <a:lnTo>
                  <a:pt x="0" y="3406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7184448" y="9324975"/>
            <a:ext cx="608679" cy="602564"/>
            <a:chOff x="0" y="0"/>
            <a:chExt cx="85797" cy="84935"/>
          </a:xfrm>
        </p:grpSpPr>
        <p:sp>
          <p:nvSpPr>
            <p:cNvPr name="Freeform 16" id="16"/>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7" id="17"/>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09645" y="9957"/>
            <a:ext cx="9271461" cy="3835781"/>
          </a:xfrm>
          <a:prstGeom prst="rect">
            <a:avLst/>
          </a:prstGeom>
        </p:spPr>
        <p:txBody>
          <a:bodyPr anchor="t" rtlCol="false" tIns="0" lIns="0" bIns="0" rIns="0">
            <a:spAutoFit/>
          </a:bodyPr>
          <a:lstStyle/>
          <a:p>
            <a:pPr algn="ctr">
              <a:lnSpc>
                <a:spcPts val="5992"/>
              </a:lnSpc>
            </a:pPr>
          </a:p>
          <a:p>
            <a:pPr algn="ctr">
              <a:lnSpc>
                <a:spcPts val="5992"/>
              </a:lnSpc>
            </a:pPr>
            <a:r>
              <a:rPr lang="en-US" sz="5600" b="true">
                <a:solidFill>
                  <a:srgbClr val="FFFFFF"/>
                </a:solidFill>
                <a:latin typeface="Poppins Bold"/>
                <a:ea typeface="Poppins Bold"/>
                <a:cs typeface="Poppins Bold"/>
                <a:sym typeface="Poppins Bold"/>
              </a:rPr>
              <a:t>From </a:t>
            </a:r>
            <a:r>
              <a:rPr lang="en-US" sz="5600" b="true">
                <a:solidFill>
                  <a:srgbClr val="FFFFFF"/>
                </a:solidFill>
                <a:latin typeface="Poppins Bold"/>
                <a:ea typeface="Poppins Bold"/>
                <a:cs typeface="Poppins Bold"/>
                <a:sym typeface="Poppins Bold"/>
              </a:rPr>
              <a:t>CamScanner to Real Mobile Photos</a:t>
            </a:r>
          </a:p>
          <a:p>
            <a:pPr algn="ctr">
              <a:lnSpc>
                <a:spcPts val="5992"/>
              </a:lnSpc>
            </a:pPr>
          </a:p>
          <a:p>
            <a:pPr algn="ctr">
              <a:lnSpc>
                <a:spcPts val="5992"/>
              </a:lnSpc>
            </a:pPr>
          </a:p>
        </p:txBody>
      </p:sp>
      <p:sp>
        <p:nvSpPr>
          <p:cNvPr name="TextBox 19" id="19"/>
          <p:cNvSpPr txBox="true"/>
          <p:nvPr/>
        </p:nvSpPr>
        <p:spPr>
          <a:xfrm rot="0">
            <a:off x="1283361" y="3241516"/>
            <a:ext cx="7483581"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At fir</a:t>
            </a:r>
            <a:r>
              <a:rPr lang="en-US" sz="2000">
                <a:solidFill>
                  <a:srgbClr val="FFFFFF"/>
                </a:solidFill>
                <a:latin typeface="Poppins"/>
                <a:ea typeface="Poppins"/>
                <a:cs typeface="Poppins"/>
                <a:sym typeface="Poppins"/>
              </a:rPr>
              <a:t>st, we used CamScanner images</a:t>
            </a:r>
          </a:p>
          <a:p>
            <a:pPr algn="just">
              <a:lnSpc>
                <a:spcPts val="3400"/>
              </a:lnSpc>
            </a:pPr>
          </a:p>
        </p:txBody>
      </p:sp>
      <p:sp>
        <p:nvSpPr>
          <p:cNvPr name="TextBox 20" id="20"/>
          <p:cNvSpPr txBox="true"/>
          <p:nvPr/>
        </p:nvSpPr>
        <p:spPr>
          <a:xfrm rot="0">
            <a:off x="1283361" y="7630169"/>
            <a:ext cx="6924029" cy="171132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 Th</a:t>
            </a:r>
            <a:r>
              <a:rPr lang="en-US" sz="2000">
                <a:solidFill>
                  <a:srgbClr val="FFFFFF"/>
                </a:solidFill>
                <a:latin typeface="Poppins"/>
                <a:ea typeface="Poppins"/>
                <a:cs typeface="Poppins"/>
                <a:sym typeface="Poppins"/>
              </a:rPr>
              <a:t>is was not realistic. In real use, a user simply takes a photo with a mobile phone.</a:t>
            </a:r>
          </a:p>
          <a:p>
            <a:pPr algn="just">
              <a:lnSpc>
                <a:spcPts val="3400"/>
              </a:lnSpc>
            </a:pPr>
          </a:p>
          <a:p>
            <a:pPr algn="just">
              <a:lnSpc>
                <a:spcPts val="3400"/>
              </a:lnSpc>
            </a:pPr>
          </a:p>
        </p:txBody>
      </p:sp>
      <p:sp>
        <p:nvSpPr>
          <p:cNvPr name="TextBox 21" id="21"/>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3</a:t>
            </a:r>
          </a:p>
        </p:txBody>
      </p:sp>
      <p:grpSp>
        <p:nvGrpSpPr>
          <p:cNvPr name="Group 22" id="22"/>
          <p:cNvGrpSpPr/>
          <p:nvPr/>
        </p:nvGrpSpPr>
        <p:grpSpPr>
          <a:xfrm rot="0">
            <a:off x="9264177" y="2868469"/>
            <a:ext cx="8517799" cy="1955485"/>
            <a:chOff x="0" y="0"/>
            <a:chExt cx="1421743" cy="326399"/>
          </a:xfrm>
        </p:grpSpPr>
        <p:sp>
          <p:nvSpPr>
            <p:cNvPr name="Freeform 23" id="23"/>
            <p:cNvSpPr/>
            <p:nvPr/>
          </p:nvSpPr>
          <p:spPr>
            <a:xfrm flipH="false" flipV="false" rot="0">
              <a:off x="0" y="0"/>
              <a:ext cx="1421743" cy="326399"/>
            </a:xfrm>
            <a:custGeom>
              <a:avLst/>
              <a:gdLst/>
              <a:ahLst/>
              <a:cxnLst/>
              <a:rect r="r" b="b" t="t" l="l"/>
              <a:pathLst>
                <a:path h="326399" w="1421743">
                  <a:moveTo>
                    <a:pt x="18178" y="0"/>
                  </a:moveTo>
                  <a:lnTo>
                    <a:pt x="1403565" y="0"/>
                  </a:lnTo>
                  <a:cubicBezTo>
                    <a:pt x="1413605" y="0"/>
                    <a:pt x="1421743" y="8139"/>
                    <a:pt x="1421743" y="18178"/>
                  </a:cubicBezTo>
                  <a:lnTo>
                    <a:pt x="1421743" y="308220"/>
                  </a:lnTo>
                  <a:cubicBezTo>
                    <a:pt x="1421743" y="313042"/>
                    <a:pt x="1419828" y="317665"/>
                    <a:pt x="1416419" y="321074"/>
                  </a:cubicBezTo>
                  <a:cubicBezTo>
                    <a:pt x="1413010" y="324483"/>
                    <a:pt x="1408386" y="326399"/>
                    <a:pt x="1403565" y="326399"/>
                  </a:cubicBezTo>
                  <a:lnTo>
                    <a:pt x="18178" y="326399"/>
                  </a:lnTo>
                  <a:cubicBezTo>
                    <a:pt x="8139" y="326399"/>
                    <a:pt x="0" y="318260"/>
                    <a:pt x="0" y="308220"/>
                  </a:cubicBezTo>
                  <a:lnTo>
                    <a:pt x="0" y="18178"/>
                  </a:lnTo>
                  <a:cubicBezTo>
                    <a:pt x="0" y="8139"/>
                    <a:pt x="8139" y="0"/>
                    <a:pt x="18178"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4" id="24"/>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9607707" y="3361233"/>
            <a:ext cx="356124" cy="340856"/>
          </a:xfrm>
          <a:custGeom>
            <a:avLst/>
            <a:gdLst/>
            <a:ahLst/>
            <a:cxnLst/>
            <a:rect r="r" b="b" t="t" l="l"/>
            <a:pathLst>
              <a:path h="340856" w="356124">
                <a:moveTo>
                  <a:pt x="0" y="0"/>
                </a:moveTo>
                <a:lnTo>
                  <a:pt x="356124" y="0"/>
                </a:lnTo>
                <a:lnTo>
                  <a:pt x="356124" y="340856"/>
                </a:lnTo>
                <a:lnTo>
                  <a:pt x="0" y="340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10143457" y="3241516"/>
            <a:ext cx="7115843"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Mobile pho</a:t>
            </a:r>
            <a:r>
              <a:rPr lang="en-US" sz="2000">
                <a:solidFill>
                  <a:srgbClr val="FFFFFF"/>
                </a:solidFill>
                <a:latin typeface="Poppins"/>
                <a:ea typeface="Poppins"/>
                <a:cs typeface="Poppins"/>
                <a:sym typeface="Poppins"/>
              </a:rPr>
              <a:t>tos include skew, perspective distortion, shadows, and noise</a:t>
            </a:r>
          </a:p>
          <a:p>
            <a:pPr algn="l">
              <a:lnSpc>
                <a:spcPts val="3400"/>
              </a:lnSpc>
            </a:pPr>
          </a:p>
        </p:txBody>
      </p:sp>
      <p:grpSp>
        <p:nvGrpSpPr>
          <p:cNvPr name="Group 27" id="27"/>
          <p:cNvGrpSpPr/>
          <p:nvPr/>
        </p:nvGrpSpPr>
        <p:grpSpPr>
          <a:xfrm rot="0">
            <a:off x="9264177" y="5086932"/>
            <a:ext cx="8517799" cy="1955485"/>
            <a:chOff x="0" y="0"/>
            <a:chExt cx="1421743" cy="326399"/>
          </a:xfrm>
        </p:grpSpPr>
        <p:sp>
          <p:nvSpPr>
            <p:cNvPr name="Freeform 28" id="28"/>
            <p:cNvSpPr/>
            <p:nvPr/>
          </p:nvSpPr>
          <p:spPr>
            <a:xfrm flipH="false" flipV="false" rot="0">
              <a:off x="0" y="0"/>
              <a:ext cx="1421743" cy="326399"/>
            </a:xfrm>
            <a:custGeom>
              <a:avLst/>
              <a:gdLst/>
              <a:ahLst/>
              <a:cxnLst/>
              <a:rect r="r" b="b" t="t" l="l"/>
              <a:pathLst>
                <a:path h="326399" w="1421743">
                  <a:moveTo>
                    <a:pt x="18178" y="0"/>
                  </a:moveTo>
                  <a:lnTo>
                    <a:pt x="1403565" y="0"/>
                  </a:lnTo>
                  <a:cubicBezTo>
                    <a:pt x="1413605" y="0"/>
                    <a:pt x="1421743" y="8139"/>
                    <a:pt x="1421743" y="18178"/>
                  </a:cubicBezTo>
                  <a:lnTo>
                    <a:pt x="1421743" y="308220"/>
                  </a:lnTo>
                  <a:cubicBezTo>
                    <a:pt x="1421743" y="313042"/>
                    <a:pt x="1419828" y="317665"/>
                    <a:pt x="1416419" y="321074"/>
                  </a:cubicBezTo>
                  <a:cubicBezTo>
                    <a:pt x="1413010" y="324483"/>
                    <a:pt x="1408386" y="326399"/>
                    <a:pt x="1403565" y="326399"/>
                  </a:cubicBezTo>
                  <a:lnTo>
                    <a:pt x="18178" y="326399"/>
                  </a:lnTo>
                  <a:cubicBezTo>
                    <a:pt x="8139" y="326399"/>
                    <a:pt x="0" y="318260"/>
                    <a:pt x="0" y="308220"/>
                  </a:cubicBezTo>
                  <a:lnTo>
                    <a:pt x="0" y="18178"/>
                  </a:lnTo>
                  <a:cubicBezTo>
                    <a:pt x="0" y="8139"/>
                    <a:pt x="8139" y="0"/>
                    <a:pt x="18178"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9" id="29"/>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30" id="30"/>
          <p:cNvSpPr/>
          <p:nvPr/>
        </p:nvSpPr>
        <p:spPr>
          <a:xfrm flipH="false" flipV="false" rot="0">
            <a:off x="9607707" y="5579696"/>
            <a:ext cx="356124" cy="340856"/>
          </a:xfrm>
          <a:custGeom>
            <a:avLst/>
            <a:gdLst/>
            <a:ahLst/>
            <a:cxnLst/>
            <a:rect r="r" b="b" t="t" l="l"/>
            <a:pathLst>
              <a:path h="340856" w="356124">
                <a:moveTo>
                  <a:pt x="0" y="0"/>
                </a:moveTo>
                <a:lnTo>
                  <a:pt x="356124" y="0"/>
                </a:lnTo>
                <a:lnTo>
                  <a:pt x="356124" y="340855"/>
                </a:lnTo>
                <a:lnTo>
                  <a:pt x="0" y="3408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10143457" y="5019675"/>
            <a:ext cx="9477960" cy="2139950"/>
          </a:xfrm>
          <a:prstGeom prst="rect">
            <a:avLst/>
          </a:prstGeom>
        </p:spPr>
        <p:txBody>
          <a:bodyPr anchor="t" rtlCol="false" tIns="0" lIns="0" bIns="0" rIns="0">
            <a:spAutoFit/>
          </a:bodyPr>
          <a:lstStyle/>
          <a:p>
            <a:pPr algn="just">
              <a:lnSpc>
                <a:spcPts val="3400"/>
              </a:lnSpc>
            </a:pPr>
          </a:p>
          <a:p>
            <a:pPr algn="just">
              <a:lnSpc>
                <a:spcPts val="3400"/>
              </a:lnSpc>
            </a:pPr>
            <a:r>
              <a:rPr lang="en-US" sz="2000">
                <a:solidFill>
                  <a:srgbClr val="FFFFFF"/>
                </a:solidFill>
                <a:latin typeface="Poppins"/>
                <a:ea typeface="Poppins"/>
                <a:cs typeface="Poppins"/>
                <a:sym typeface="Poppins"/>
              </a:rPr>
              <a:t>We wanted a fully automatic system</a:t>
            </a:r>
          </a:p>
          <a:p>
            <a:pPr algn="just">
              <a:lnSpc>
                <a:spcPts val="3400"/>
              </a:lnSpc>
            </a:pPr>
            <a:r>
              <a:rPr lang="en-US" sz="2000">
                <a:solidFill>
                  <a:srgbClr val="FFFFFF"/>
                </a:solidFill>
                <a:latin typeface="Poppins"/>
                <a:ea typeface="Poppins"/>
                <a:cs typeface="Poppins"/>
                <a:sym typeface="Poppins"/>
              </a:rPr>
              <a:t> So we removed the dependency on external apps</a:t>
            </a:r>
          </a:p>
          <a:p>
            <a:pPr algn="just">
              <a:lnSpc>
                <a:spcPts val="3400"/>
              </a:lnSpc>
            </a:pPr>
            <a:r>
              <a:rPr lang="en-US" sz="2000">
                <a:solidFill>
                  <a:srgbClr val="FFFFFF"/>
                </a:solidFill>
                <a:latin typeface="Poppins"/>
                <a:ea typeface="Poppins"/>
                <a:cs typeface="Poppins"/>
                <a:sym typeface="Poppins"/>
              </a:rPr>
              <a:t> All image preprocessing is now done inside our pipeline</a:t>
            </a:r>
          </a:p>
          <a:p>
            <a:pPr algn="just">
              <a:lnSpc>
                <a:spcPts val="34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63982" y="2590916"/>
            <a:ext cx="7789054" cy="1561506"/>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9879" y="0"/>
                  </a:moveTo>
                  <a:lnTo>
                    <a:pt x="1295212" y="0"/>
                  </a:lnTo>
                  <a:cubicBezTo>
                    <a:pt x="1306191" y="0"/>
                    <a:pt x="1315091" y="8900"/>
                    <a:pt x="1315091" y="19879"/>
                  </a:cubicBezTo>
                  <a:lnTo>
                    <a:pt x="1315091" y="243763"/>
                  </a:lnTo>
                  <a:cubicBezTo>
                    <a:pt x="1315091" y="254742"/>
                    <a:pt x="1306191" y="263642"/>
                    <a:pt x="1295212" y="263642"/>
                  </a:cubicBezTo>
                  <a:lnTo>
                    <a:pt x="19879" y="263642"/>
                  </a:lnTo>
                  <a:cubicBezTo>
                    <a:pt x="8900" y="263642"/>
                    <a:pt x="0" y="254742"/>
                    <a:pt x="0" y="243763"/>
                  </a:cubicBezTo>
                  <a:lnTo>
                    <a:pt x="0" y="19879"/>
                  </a:lnTo>
                  <a:cubicBezTo>
                    <a:pt x="0" y="8900"/>
                    <a:pt x="8900" y="0"/>
                    <a:pt x="19879"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08920" y="2783116"/>
            <a:ext cx="352065" cy="336972"/>
          </a:xfrm>
          <a:custGeom>
            <a:avLst/>
            <a:gdLst/>
            <a:ahLst/>
            <a:cxnLst/>
            <a:rect r="r" b="b" t="t" l="l"/>
            <a:pathLst>
              <a:path h="336972" w="352065">
                <a:moveTo>
                  <a:pt x="0" y="0"/>
                </a:moveTo>
                <a:lnTo>
                  <a:pt x="352066" y="0"/>
                </a:lnTo>
                <a:lnTo>
                  <a:pt x="352066" y="336972"/>
                </a:lnTo>
                <a:lnTo>
                  <a:pt x="0" y="336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184448" y="9324975"/>
            <a:ext cx="608679" cy="602564"/>
            <a:chOff x="0" y="0"/>
            <a:chExt cx="85797" cy="84935"/>
          </a:xfrm>
        </p:grpSpPr>
        <p:sp>
          <p:nvSpPr>
            <p:cNvPr name="Freeform 7" id="7"/>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63982" y="4263655"/>
            <a:ext cx="7789054" cy="1561506"/>
            <a:chOff x="0" y="0"/>
            <a:chExt cx="1315091" cy="263642"/>
          </a:xfrm>
        </p:grpSpPr>
        <p:sp>
          <p:nvSpPr>
            <p:cNvPr name="Freeform 10" id="10"/>
            <p:cNvSpPr/>
            <p:nvPr/>
          </p:nvSpPr>
          <p:spPr>
            <a:xfrm flipH="false" flipV="false" rot="0">
              <a:off x="0" y="0"/>
              <a:ext cx="1315091" cy="263642"/>
            </a:xfrm>
            <a:custGeom>
              <a:avLst/>
              <a:gdLst/>
              <a:ahLst/>
              <a:cxnLst/>
              <a:rect r="r" b="b" t="t" l="l"/>
              <a:pathLst>
                <a:path h="263642" w="1315091">
                  <a:moveTo>
                    <a:pt x="19879" y="0"/>
                  </a:moveTo>
                  <a:lnTo>
                    <a:pt x="1295212" y="0"/>
                  </a:lnTo>
                  <a:cubicBezTo>
                    <a:pt x="1306191" y="0"/>
                    <a:pt x="1315091" y="8900"/>
                    <a:pt x="1315091" y="19879"/>
                  </a:cubicBezTo>
                  <a:lnTo>
                    <a:pt x="1315091" y="243763"/>
                  </a:lnTo>
                  <a:cubicBezTo>
                    <a:pt x="1315091" y="254742"/>
                    <a:pt x="1306191" y="263642"/>
                    <a:pt x="1295212" y="263642"/>
                  </a:cubicBezTo>
                  <a:lnTo>
                    <a:pt x="19879" y="263642"/>
                  </a:lnTo>
                  <a:cubicBezTo>
                    <a:pt x="8900" y="263642"/>
                    <a:pt x="0" y="254742"/>
                    <a:pt x="0" y="243763"/>
                  </a:cubicBezTo>
                  <a:lnTo>
                    <a:pt x="0" y="19879"/>
                  </a:lnTo>
                  <a:cubicBezTo>
                    <a:pt x="0" y="8900"/>
                    <a:pt x="8900" y="0"/>
                    <a:pt x="19879"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1" id="11"/>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a:p>
              <a:pPr algn="ctr">
                <a:lnSpc>
                  <a:spcPts val="2659"/>
                </a:lnSpc>
                <a:spcBef>
                  <a:spcPct val="0"/>
                </a:spcBef>
              </a:pPr>
            </a:p>
          </p:txBody>
        </p:sp>
      </p:grpSp>
      <p:sp>
        <p:nvSpPr>
          <p:cNvPr name="Freeform 12" id="12"/>
          <p:cNvSpPr/>
          <p:nvPr/>
        </p:nvSpPr>
        <p:spPr>
          <a:xfrm flipH="false" flipV="false" rot="0">
            <a:off x="1208920" y="4480025"/>
            <a:ext cx="363473" cy="347890"/>
          </a:xfrm>
          <a:custGeom>
            <a:avLst/>
            <a:gdLst/>
            <a:ahLst/>
            <a:cxnLst/>
            <a:rect r="r" b="b" t="t" l="l"/>
            <a:pathLst>
              <a:path h="347890" w="363473">
                <a:moveTo>
                  <a:pt x="0" y="0"/>
                </a:moveTo>
                <a:lnTo>
                  <a:pt x="363473" y="0"/>
                </a:lnTo>
                <a:lnTo>
                  <a:pt x="363473" y="347889"/>
                </a:lnTo>
                <a:lnTo>
                  <a:pt x="0" y="347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063982" y="7696794"/>
            <a:ext cx="7789054" cy="1561506"/>
            <a:chOff x="0" y="0"/>
            <a:chExt cx="1315091" cy="263642"/>
          </a:xfrm>
        </p:grpSpPr>
        <p:sp>
          <p:nvSpPr>
            <p:cNvPr name="Freeform 14" id="14"/>
            <p:cNvSpPr/>
            <p:nvPr/>
          </p:nvSpPr>
          <p:spPr>
            <a:xfrm flipH="false" flipV="false" rot="0">
              <a:off x="0" y="0"/>
              <a:ext cx="1315091" cy="263642"/>
            </a:xfrm>
            <a:custGeom>
              <a:avLst/>
              <a:gdLst/>
              <a:ahLst/>
              <a:cxnLst/>
              <a:rect r="r" b="b" t="t" l="l"/>
              <a:pathLst>
                <a:path h="263642" w="1315091">
                  <a:moveTo>
                    <a:pt x="19879" y="0"/>
                  </a:moveTo>
                  <a:lnTo>
                    <a:pt x="1295212" y="0"/>
                  </a:lnTo>
                  <a:cubicBezTo>
                    <a:pt x="1306191" y="0"/>
                    <a:pt x="1315091" y="8900"/>
                    <a:pt x="1315091" y="19879"/>
                  </a:cubicBezTo>
                  <a:lnTo>
                    <a:pt x="1315091" y="243763"/>
                  </a:lnTo>
                  <a:cubicBezTo>
                    <a:pt x="1315091" y="254742"/>
                    <a:pt x="1306191" y="263642"/>
                    <a:pt x="1295212" y="263642"/>
                  </a:cubicBezTo>
                  <a:lnTo>
                    <a:pt x="19879" y="263642"/>
                  </a:lnTo>
                  <a:cubicBezTo>
                    <a:pt x="8900" y="263642"/>
                    <a:pt x="0" y="254742"/>
                    <a:pt x="0" y="243763"/>
                  </a:cubicBezTo>
                  <a:lnTo>
                    <a:pt x="0" y="19879"/>
                  </a:lnTo>
                  <a:cubicBezTo>
                    <a:pt x="0" y="8900"/>
                    <a:pt x="8900" y="0"/>
                    <a:pt x="19879"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5" id="15"/>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a:p>
              <a:pPr algn="ctr">
                <a:lnSpc>
                  <a:spcPts val="2659"/>
                </a:lnSpc>
                <a:spcBef>
                  <a:spcPct val="0"/>
                </a:spcBef>
              </a:pPr>
            </a:p>
          </p:txBody>
        </p:sp>
      </p:grpSp>
      <p:grpSp>
        <p:nvGrpSpPr>
          <p:cNvPr name="Group 16" id="16"/>
          <p:cNvGrpSpPr/>
          <p:nvPr/>
        </p:nvGrpSpPr>
        <p:grpSpPr>
          <a:xfrm rot="0">
            <a:off x="1063982" y="5936489"/>
            <a:ext cx="7789054" cy="1561506"/>
            <a:chOff x="0" y="0"/>
            <a:chExt cx="1315091" cy="263642"/>
          </a:xfrm>
        </p:grpSpPr>
        <p:sp>
          <p:nvSpPr>
            <p:cNvPr name="Freeform 17" id="17"/>
            <p:cNvSpPr/>
            <p:nvPr/>
          </p:nvSpPr>
          <p:spPr>
            <a:xfrm flipH="false" flipV="false" rot="0">
              <a:off x="0" y="0"/>
              <a:ext cx="1315091" cy="263642"/>
            </a:xfrm>
            <a:custGeom>
              <a:avLst/>
              <a:gdLst/>
              <a:ahLst/>
              <a:cxnLst/>
              <a:rect r="r" b="b" t="t" l="l"/>
              <a:pathLst>
                <a:path h="263642" w="1315091">
                  <a:moveTo>
                    <a:pt x="19879" y="0"/>
                  </a:moveTo>
                  <a:lnTo>
                    <a:pt x="1295212" y="0"/>
                  </a:lnTo>
                  <a:cubicBezTo>
                    <a:pt x="1306191" y="0"/>
                    <a:pt x="1315091" y="8900"/>
                    <a:pt x="1315091" y="19879"/>
                  </a:cubicBezTo>
                  <a:lnTo>
                    <a:pt x="1315091" y="243763"/>
                  </a:lnTo>
                  <a:cubicBezTo>
                    <a:pt x="1315091" y="254742"/>
                    <a:pt x="1306191" y="263642"/>
                    <a:pt x="1295212" y="263642"/>
                  </a:cubicBezTo>
                  <a:lnTo>
                    <a:pt x="19879" y="263642"/>
                  </a:lnTo>
                  <a:cubicBezTo>
                    <a:pt x="8900" y="263642"/>
                    <a:pt x="0" y="254742"/>
                    <a:pt x="0" y="243763"/>
                  </a:cubicBezTo>
                  <a:lnTo>
                    <a:pt x="0" y="19879"/>
                  </a:lnTo>
                  <a:cubicBezTo>
                    <a:pt x="0" y="8900"/>
                    <a:pt x="8900" y="0"/>
                    <a:pt x="19879"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8" id="1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a:p>
              <a:pPr algn="ctr">
                <a:lnSpc>
                  <a:spcPts val="2659"/>
                </a:lnSpc>
                <a:spcBef>
                  <a:spcPct val="0"/>
                </a:spcBef>
              </a:pPr>
            </a:p>
          </p:txBody>
        </p:sp>
      </p:grpSp>
      <p:sp>
        <p:nvSpPr>
          <p:cNvPr name="Freeform 19" id="19"/>
          <p:cNvSpPr/>
          <p:nvPr/>
        </p:nvSpPr>
        <p:spPr>
          <a:xfrm flipH="false" flipV="false" rot="0">
            <a:off x="1208920" y="6151192"/>
            <a:ext cx="401255" cy="384052"/>
          </a:xfrm>
          <a:custGeom>
            <a:avLst/>
            <a:gdLst/>
            <a:ahLst/>
            <a:cxnLst/>
            <a:rect r="r" b="b" t="t" l="l"/>
            <a:pathLst>
              <a:path h="384052" w="401255">
                <a:moveTo>
                  <a:pt x="0" y="0"/>
                </a:moveTo>
                <a:lnTo>
                  <a:pt x="401255" y="0"/>
                </a:lnTo>
                <a:lnTo>
                  <a:pt x="401255" y="384052"/>
                </a:lnTo>
                <a:lnTo>
                  <a:pt x="0" y="384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196565" y="7895594"/>
            <a:ext cx="388183" cy="371541"/>
          </a:xfrm>
          <a:custGeom>
            <a:avLst/>
            <a:gdLst/>
            <a:ahLst/>
            <a:cxnLst/>
            <a:rect r="r" b="b" t="t" l="l"/>
            <a:pathLst>
              <a:path h="371541" w="388183">
                <a:moveTo>
                  <a:pt x="0" y="0"/>
                </a:moveTo>
                <a:lnTo>
                  <a:pt x="388183" y="0"/>
                </a:lnTo>
                <a:lnTo>
                  <a:pt x="388183" y="371541"/>
                </a:lnTo>
                <a:lnTo>
                  <a:pt x="0" y="3715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3998091" y="3005495"/>
            <a:ext cx="3795036" cy="4896341"/>
          </a:xfrm>
          <a:custGeom>
            <a:avLst/>
            <a:gdLst/>
            <a:ahLst/>
            <a:cxnLst/>
            <a:rect r="r" b="b" t="t" l="l"/>
            <a:pathLst>
              <a:path h="4896341" w="3795036">
                <a:moveTo>
                  <a:pt x="0" y="0"/>
                </a:moveTo>
                <a:lnTo>
                  <a:pt x="3795037" y="0"/>
                </a:lnTo>
                <a:lnTo>
                  <a:pt x="3795037" y="4896341"/>
                </a:lnTo>
                <a:lnTo>
                  <a:pt x="0" y="4896341"/>
                </a:lnTo>
                <a:lnTo>
                  <a:pt x="0" y="0"/>
                </a:lnTo>
                <a:close/>
              </a:path>
            </a:pathLst>
          </a:custGeom>
          <a:blipFill>
            <a:blip r:embed="rId4"/>
            <a:stretch>
              <a:fillRect l="0" t="0" r="0" b="0"/>
            </a:stretch>
          </a:blipFill>
        </p:spPr>
      </p:sp>
      <p:sp>
        <p:nvSpPr>
          <p:cNvPr name="Freeform 22" id="22"/>
          <p:cNvSpPr/>
          <p:nvPr/>
        </p:nvSpPr>
        <p:spPr>
          <a:xfrm flipH="false" flipV="false" rot="0">
            <a:off x="9764877" y="3005495"/>
            <a:ext cx="3672256" cy="4896341"/>
          </a:xfrm>
          <a:custGeom>
            <a:avLst/>
            <a:gdLst/>
            <a:ahLst/>
            <a:cxnLst/>
            <a:rect r="r" b="b" t="t" l="l"/>
            <a:pathLst>
              <a:path h="4896341" w="3672256">
                <a:moveTo>
                  <a:pt x="0" y="0"/>
                </a:moveTo>
                <a:lnTo>
                  <a:pt x="3672256" y="0"/>
                </a:lnTo>
                <a:lnTo>
                  <a:pt x="3672256" y="4896341"/>
                </a:lnTo>
                <a:lnTo>
                  <a:pt x="0" y="4896341"/>
                </a:lnTo>
                <a:lnTo>
                  <a:pt x="0" y="0"/>
                </a:lnTo>
                <a:close/>
              </a:path>
            </a:pathLst>
          </a:custGeom>
          <a:blipFill>
            <a:blip r:embed="rId5"/>
            <a:stretch>
              <a:fillRect l="0" t="0" r="0" b="0"/>
            </a:stretch>
          </a:blipFill>
        </p:spPr>
      </p:sp>
      <p:sp>
        <p:nvSpPr>
          <p:cNvPr name="TextBox 23" id="23"/>
          <p:cNvSpPr txBox="true"/>
          <p:nvPr/>
        </p:nvSpPr>
        <p:spPr>
          <a:xfrm rot="0">
            <a:off x="1063982" y="1047750"/>
            <a:ext cx="9329829" cy="825821"/>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Image Preprocessing </a:t>
            </a:r>
          </a:p>
        </p:txBody>
      </p:sp>
      <p:sp>
        <p:nvSpPr>
          <p:cNvPr name="TextBox 24" id="24"/>
          <p:cNvSpPr txBox="true"/>
          <p:nvPr/>
        </p:nvSpPr>
        <p:spPr>
          <a:xfrm rot="0">
            <a:off x="1831242" y="3150124"/>
            <a:ext cx="6848449" cy="1113531"/>
          </a:xfrm>
          <a:prstGeom prst="rect">
            <a:avLst/>
          </a:prstGeom>
        </p:spPr>
        <p:txBody>
          <a:bodyPr anchor="t" rtlCol="false" tIns="0" lIns="0" bIns="0" rIns="0">
            <a:spAutoFit/>
          </a:bodyPr>
          <a:lstStyle/>
          <a:p>
            <a:pPr algn="just">
              <a:lnSpc>
                <a:spcPts val="2987"/>
              </a:lnSpc>
            </a:pPr>
            <a:r>
              <a:rPr lang="en-US" sz="1757">
                <a:solidFill>
                  <a:srgbClr val="FFFFFF"/>
                </a:solidFill>
                <a:latin typeface="Poppins"/>
                <a:ea typeface="Poppins"/>
                <a:cs typeface="Poppins"/>
                <a:sym typeface="Poppins"/>
              </a:rPr>
              <a:t> Sk</a:t>
            </a:r>
            <a:r>
              <a:rPr lang="en-US" sz="1757">
                <a:solidFill>
                  <a:srgbClr val="FFFFFF"/>
                </a:solidFill>
                <a:latin typeface="Poppins"/>
                <a:ea typeface="Poppins"/>
                <a:cs typeface="Poppins"/>
                <a:sym typeface="Poppins"/>
              </a:rPr>
              <a:t>ew correction and auto-warp</a:t>
            </a:r>
          </a:p>
          <a:p>
            <a:pPr algn="just">
              <a:lnSpc>
                <a:spcPts val="2987"/>
              </a:lnSpc>
            </a:pPr>
            <a:r>
              <a:rPr lang="en-US" sz="1757">
                <a:solidFill>
                  <a:srgbClr val="FFFFFF"/>
                </a:solidFill>
                <a:latin typeface="Poppins"/>
                <a:ea typeface="Poppins"/>
                <a:cs typeface="Poppins"/>
                <a:sym typeface="Poppins"/>
              </a:rPr>
              <a:t>• Perspective rectification</a:t>
            </a:r>
          </a:p>
          <a:p>
            <a:pPr algn="just">
              <a:lnSpc>
                <a:spcPts val="2987"/>
              </a:lnSpc>
            </a:pPr>
          </a:p>
        </p:txBody>
      </p:sp>
      <p:sp>
        <p:nvSpPr>
          <p:cNvPr name="TextBox 25" id="25"/>
          <p:cNvSpPr txBox="true"/>
          <p:nvPr/>
        </p:nvSpPr>
        <p:spPr>
          <a:xfrm rot="0">
            <a:off x="1831242" y="2785112"/>
            <a:ext cx="5486238" cy="622326"/>
          </a:xfrm>
          <a:prstGeom prst="rect">
            <a:avLst/>
          </a:prstGeom>
        </p:spPr>
        <p:txBody>
          <a:bodyPr anchor="t" rtlCol="false" tIns="0" lIns="0" bIns="0" rIns="0">
            <a:spAutoFit/>
          </a:bodyPr>
          <a:lstStyle/>
          <a:p>
            <a:pPr algn="l">
              <a:lnSpc>
                <a:spcPts val="2460"/>
              </a:lnSpc>
            </a:pPr>
            <a:r>
              <a:rPr lang="en-US" sz="1757" b="true">
                <a:solidFill>
                  <a:srgbClr val="FFFFFF"/>
                </a:solidFill>
                <a:latin typeface="Poppins Bold"/>
                <a:ea typeface="Poppins Bold"/>
                <a:cs typeface="Poppins Bold"/>
                <a:sym typeface="Poppins Bold"/>
              </a:rPr>
              <a:t>Our solution:</a:t>
            </a:r>
          </a:p>
          <a:p>
            <a:pPr algn="l">
              <a:lnSpc>
                <a:spcPts val="2460"/>
              </a:lnSpc>
              <a:spcBef>
                <a:spcPct val="0"/>
              </a:spcBef>
            </a:pPr>
          </a:p>
        </p:txBody>
      </p:sp>
      <p:sp>
        <p:nvSpPr>
          <p:cNvPr name="TextBox 26" id="26"/>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4</a:t>
            </a:r>
          </a:p>
        </p:txBody>
      </p:sp>
      <p:sp>
        <p:nvSpPr>
          <p:cNvPr name="TextBox 27" id="27"/>
          <p:cNvSpPr txBox="true"/>
          <p:nvPr/>
        </p:nvSpPr>
        <p:spPr>
          <a:xfrm rot="0">
            <a:off x="1831242" y="4493958"/>
            <a:ext cx="5123123" cy="1241664"/>
          </a:xfrm>
          <a:prstGeom prst="rect">
            <a:avLst/>
          </a:prstGeom>
        </p:spPr>
        <p:txBody>
          <a:bodyPr anchor="t" rtlCol="false" tIns="0" lIns="0" bIns="0" rIns="0">
            <a:spAutoFit/>
          </a:bodyPr>
          <a:lstStyle/>
          <a:p>
            <a:pPr algn="l">
              <a:lnSpc>
                <a:spcPts val="2460"/>
              </a:lnSpc>
            </a:pPr>
            <a:r>
              <a:rPr lang="en-US" sz="1757" b="true">
                <a:solidFill>
                  <a:srgbClr val="FFFFFF"/>
                </a:solidFill>
                <a:latin typeface="Poppins Bold"/>
                <a:ea typeface="Poppins Bold"/>
                <a:cs typeface="Poppins Bold"/>
                <a:sym typeface="Poppins Bold"/>
              </a:rPr>
              <a:t>Grid Rectification Problem</a:t>
            </a:r>
          </a:p>
          <a:p>
            <a:pPr algn="l">
              <a:lnSpc>
                <a:spcPts val="2460"/>
              </a:lnSpc>
            </a:pPr>
          </a:p>
          <a:p>
            <a:pPr algn="l">
              <a:lnSpc>
                <a:spcPts val="2460"/>
              </a:lnSpc>
            </a:pPr>
            <a:r>
              <a:rPr lang="en-US" sz="1757">
                <a:solidFill>
                  <a:srgbClr val="FFFFFF"/>
                </a:solidFill>
                <a:latin typeface="Poppins"/>
                <a:ea typeface="Poppins"/>
                <a:cs typeface="Poppins"/>
                <a:sym typeface="Poppins"/>
              </a:rPr>
              <a:t>Perspective distortion in scanned images</a:t>
            </a:r>
            <a:r>
              <a:rPr lang="en-US" sz="1757" b="true">
                <a:solidFill>
                  <a:srgbClr val="FFFFFF"/>
                </a:solidFill>
                <a:latin typeface="Poppins Bold"/>
                <a:ea typeface="Poppins Bold"/>
                <a:cs typeface="Poppins Bold"/>
                <a:sym typeface="Poppins Bold"/>
              </a:rPr>
              <a:t>.</a:t>
            </a:r>
          </a:p>
          <a:p>
            <a:pPr algn="l">
              <a:lnSpc>
                <a:spcPts val="2460"/>
              </a:lnSpc>
              <a:spcBef>
                <a:spcPct val="0"/>
              </a:spcBef>
            </a:pPr>
          </a:p>
        </p:txBody>
      </p:sp>
      <p:sp>
        <p:nvSpPr>
          <p:cNvPr name="TextBox 28" id="28"/>
          <p:cNvSpPr txBox="true"/>
          <p:nvPr/>
        </p:nvSpPr>
        <p:spPr>
          <a:xfrm rot="0">
            <a:off x="1831242" y="6187638"/>
            <a:ext cx="5026352" cy="1241664"/>
          </a:xfrm>
          <a:prstGeom prst="rect">
            <a:avLst/>
          </a:prstGeom>
        </p:spPr>
        <p:txBody>
          <a:bodyPr anchor="t" rtlCol="false" tIns="0" lIns="0" bIns="0" rIns="0">
            <a:spAutoFit/>
          </a:bodyPr>
          <a:lstStyle/>
          <a:p>
            <a:pPr algn="l">
              <a:lnSpc>
                <a:spcPts val="2460"/>
              </a:lnSpc>
            </a:pPr>
            <a:r>
              <a:rPr lang="en-US" sz="1757" b="true">
                <a:solidFill>
                  <a:srgbClr val="FFFFFF"/>
                </a:solidFill>
                <a:latin typeface="Poppins Bold"/>
                <a:ea typeface="Poppins Bold"/>
                <a:cs typeface="Poppins Bold"/>
                <a:sym typeface="Poppins Bold"/>
              </a:rPr>
              <a:t>Solution</a:t>
            </a:r>
          </a:p>
          <a:p>
            <a:pPr algn="l">
              <a:lnSpc>
                <a:spcPts val="2460"/>
              </a:lnSpc>
            </a:pPr>
          </a:p>
          <a:p>
            <a:pPr algn="l">
              <a:lnSpc>
                <a:spcPts val="2460"/>
              </a:lnSpc>
            </a:pPr>
            <a:r>
              <a:rPr lang="en-US" sz="1757">
                <a:solidFill>
                  <a:srgbClr val="FFFFFF"/>
                </a:solidFill>
                <a:latin typeface="Poppins"/>
                <a:ea typeface="Poppins"/>
                <a:cs typeface="Poppins"/>
                <a:sym typeface="Poppins"/>
              </a:rPr>
              <a:t>Detect grid contour + perspective unwarp</a:t>
            </a:r>
            <a:r>
              <a:rPr lang="en-US" sz="1757" b="true">
                <a:solidFill>
                  <a:srgbClr val="FFFFFF"/>
                </a:solidFill>
                <a:latin typeface="Poppins Bold"/>
                <a:ea typeface="Poppins Bold"/>
                <a:cs typeface="Poppins Bold"/>
                <a:sym typeface="Poppins Bold"/>
              </a:rPr>
              <a:t>.</a:t>
            </a:r>
          </a:p>
          <a:p>
            <a:pPr algn="l">
              <a:lnSpc>
                <a:spcPts val="2460"/>
              </a:lnSpc>
              <a:spcBef>
                <a:spcPct val="0"/>
              </a:spcBef>
            </a:pPr>
          </a:p>
        </p:txBody>
      </p:sp>
      <p:sp>
        <p:nvSpPr>
          <p:cNvPr name="TextBox 29" id="29"/>
          <p:cNvSpPr txBox="true"/>
          <p:nvPr/>
        </p:nvSpPr>
        <p:spPr>
          <a:xfrm rot="0">
            <a:off x="1731661" y="7832903"/>
            <a:ext cx="4564232" cy="1241664"/>
          </a:xfrm>
          <a:prstGeom prst="rect">
            <a:avLst/>
          </a:prstGeom>
        </p:spPr>
        <p:txBody>
          <a:bodyPr anchor="t" rtlCol="false" tIns="0" lIns="0" bIns="0" rIns="0">
            <a:spAutoFit/>
          </a:bodyPr>
          <a:lstStyle/>
          <a:p>
            <a:pPr algn="l">
              <a:lnSpc>
                <a:spcPts val="2460"/>
              </a:lnSpc>
            </a:pPr>
            <a:r>
              <a:rPr lang="en-US" sz="1757" b="true">
                <a:solidFill>
                  <a:srgbClr val="FFFFFF"/>
                </a:solidFill>
                <a:latin typeface="Poppins Bold"/>
                <a:ea typeface="Poppins Bold"/>
                <a:cs typeface="Poppins Bold"/>
                <a:sym typeface="Poppins Bold"/>
              </a:rPr>
              <a:t>Result &amp;impact </a:t>
            </a:r>
          </a:p>
          <a:p>
            <a:pPr algn="l">
              <a:lnSpc>
                <a:spcPts val="2460"/>
              </a:lnSpc>
            </a:pPr>
          </a:p>
          <a:p>
            <a:pPr algn="l">
              <a:lnSpc>
                <a:spcPts val="2460"/>
              </a:lnSpc>
            </a:pPr>
            <a:r>
              <a:rPr lang="en-US" sz="1757">
                <a:solidFill>
                  <a:srgbClr val="FFFFFF"/>
                </a:solidFill>
                <a:latin typeface="Poppins"/>
                <a:ea typeface="Poppins"/>
                <a:cs typeface="Poppins"/>
                <a:sym typeface="Poppins"/>
              </a:rPr>
              <a:t>Clean, rectangular grid</a:t>
            </a:r>
            <a:r>
              <a:rPr lang="en-US" sz="1757" b="true">
                <a:solidFill>
                  <a:srgbClr val="FFFFFF"/>
                </a:solidFill>
                <a:latin typeface="Poppins Bold"/>
                <a:ea typeface="Poppins Bold"/>
                <a:cs typeface="Poppins Bold"/>
                <a:sym typeface="Poppins Bold"/>
              </a:rPr>
              <a:t>.</a:t>
            </a:r>
          </a:p>
          <a:p>
            <a:pPr algn="l">
              <a:lnSpc>
                <a:spcPts val="2460"/>
              </a:lnSpc>
              <a:spcBef>
                <a:spcPct val="0"/>
              </a:spcBef>
            </a:pPr>
            <a:r>
              <a:rPr lang="en-US" sz="1757">
                <a:solidFill>
                  <a:srgbClr val="FFFFFF"/>
                </a:solidFill>
                <a:latin typeface="Poppins"/>
                <a:ea typeface="Poppins"/>
                <a:cs typeface="Poppins"/>
                <a:sym typeface="Poppins"/>
              </a:rPr>
              <a:t>Stable grid, better OCR &amp; solving</a:t>
            </a:r>
            <a:r>
              <a:rPr lang="en-US" b="true" sz="1757">
                <a:solidFill>
                  <a:srgbClr val="FFFFFF"/>
                </a:solidFill>
                <a:latin typeface="Poppins Bold"/>
                <a:ea typeface="Poppins Bold"/>
                <a:cs typeface="Poppins Bold"/>
                <a:sym typeface="Poppins Bold"/>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7184448" y="9324975"/>
            <a:ext cx="608679" cy="602564"/>
            <a:chOff x="0" y="0"/>
            <a:chExt cx="85797" cy="84935"/>
          </a:xfrm>
        </p:grpSpPr>
        <p:sp>
          <p:nvSpPr>
            <p:cNvPr name="Freeform 3" id="3"/>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pic>
        <p:nvPicPr>
          <p:cNvPr name="Picture 5" id="5"/>
          <p:cNvPicPr>
            <a:picLocks noChangeAspect="true"/>
          </p:cNvPicPr>
          <p:nvPr/>
        </p:nvPicPr>
        <p:blipFill>
          <a:blip r:embed="rId2"/>
          <a:stretch>
            <a:fillRect/>
          </a:stretch>
        </p:blipFill>
        <p:spPr>
          <a:xfrm rot="0">
            <a:off x="3450936" y="4552766"/>
            <a:ext cx="1325964" cy="561633"/>
          </a:xfrm>
          <a:prstGeom prst="rect">
            <a:avLst/>
          </a:prstGeom>
        </p:spPr>
      </p:pic>
      <p:grpSp>
        <p:nvGrpSpPr>
          <p:cNvPr name="Group 6" id="6"/>
          <p:cNvGrpSpPr/>
          <p:nvPr/>
        </p:nvGrpSpPr>
        <p:grpSpPr>
          <a:xfrm rot="0">
            <a:off x="4819327" y="4686054"/>
            <a:ext cx="3264751" cy="684224"/>
            <a:chOff x="0" y="0"/>
            <a:chExt cx="4353002" cy="912299"/>
          </a:xfrm>
        </p:grpSpPr>
        <p:sp>
          <p:nvSpPr>
            <p:cNvPr name="TextBox 7" id="7"/>
            <p:cNvSpPr txBox="true"/>
            <p:nvPr/>
          </p:nvSpPr>
          <p:spPr>
            <a:xfrm rot="0">
              <a:off x="0" y="-47625"/>
              <a:ext cx="4353002" cy="445558"/>
            </a:xfrm>
            <a:prstGeom prst="rect">
              <a:avLst/>
            </a:prstGeom>
          </p:spPr>
          <p:txBody>
            <a:bodyPr anchor="t" rtlCol="false" tIns="0" lIns="0" bIns="0" rIns="0">
              <a:spAutoFit/>
            </a:bodyPr>
            <a:lstStyle/>
            <a:p>
              <a:pPr algn="ctr" marL="0" indent="0" lvl="0">
                <a:lnSpc>
                  <a:spcPts val="2600"/>
                </a:lnSpc>
                <a:spcBef>
                  <a:spcPct val="0"/>
                </a:spcBef>
              </a:pPr>
              <a:r>
                <a:rPr lang="en-US" b="true" sz="2000">
                  <a:solidFill>
                    <a:srgbClr val="FBFCFA"/>
                  </a:solidFill>
                  <a:latin typeface="Poppins Bold"/>
                  <a:ea typeface="Poppins Bold"/>
                  <a:cs typeface="Poppins Bold"/>
                  <a:sym typeface="Poppins Bold"/>
                </a:rPr>
                <a:t>Mask</a:t>
              </a:r>
            </a:p>
          </p:txBody>
        </p:sp>
        <p:sp>
          <p:nvSpPr>
            <p:cNvPr name="TextBox 8" id="8"/>
            <p:cNvSpPr txBox="true"/>
            <p:nvPr/>
          </p:nvSpPr>
          <p:spPr>
            <a:xfrm rot="0">
              <a:off x="0" y="466740"/>
              <a:ext cx="4353002" cy="445558"/>
            </a:xfrm>
            <a:prstGeom prst="rect">
              <a:avLst/>
            </a:prstGeom>
          </p:spPr>
          <p:txBody>
            <a:bodyPr anchor="t" rtlCol="false" tIns="0" lIns="0" bIns="0" rIns="0">
              <a:spAutoFit/>
            </a:bodyPr>
            <a:lstStyle/>
            <a:p>
              <a:pPr algn="ctr" marL="0" indent="0" lvl="0">
                <a:lnSpc>
                  <a:spcPts val="2600"/>
                </a:lnSpc>
                <a:spcBef>
                  <a:spcPct val="0"/>
                </a:spcBef>
              </a:pPr>
            </a:p>
          </p:txBody>
        </p:sp>
      </p:grpSp>
      <p:pic>
        <p:nvPicPr>
          <p:cNvPr name="Picture 9" id="9"/>
          <p:cNvPicPr>
            <a:picLocks noChangeAspect="true"/>
          </p:cNvPicPr>
          <p:nvPr/>
        </p:nvPicPr>
        <p:blipFill>
          <a:blip r:embed="rId3"/>
          <a:stretch>
            <a:fillRect/>
          </a:stretch>
        </p:blipFill>
        <p:spPr>
          <a:xfrm rot="0">
            <a:off x="7604413" y="4572316"/>
            <a:ext cx="1325964" cy="561633"/>
          </a:xfrm>
          <a:prstGeom prst="rect">
            <a:avLst/>
          </a:prstGeom>
        </p:spPr>
      </p:pic>
      <p:pic>
        <p:nvPicPr>
          <p:cNvPr name="Picture 10" id="10"/>
          <p:cNvPicPr>
            <a:picLocks noChangeAspect="true"/>
          </p:cNvPicPr>
          <p:nvPr/>
        </p:nvPicPr>
        <p:blipFill>
          <a:blip r:embed="rId4"/>
          <a:stretch>
            <a:fillRect/>
          </a:stretch>
        </p:blipFill>
        <p:spPr>
          <a:xfrm rot="0">
            <a:off x="12708903" y="4552766"/>
            <a:ext cx="1325964" cy="561633"/>
          </a:xfrm>
          <a:prstGeom prst="rect">
            <a:avLst/>
          </a:prstGeom>
        </p:spPr>
      </p:pic>
      <p:sp>
        <p:nvSpPr>
          <p:cNvPr name="TextBox 11" id="11"/>
          <p:cNvSpPr txBox="true"/>
          <p:nvPr/>
        </p:nvSpPr>
        <p:spPr>
          <a:xfrm rot="0">
            <a:off x="750023" y="1047750"/>
            <a:ext cx="9403809" cy="1456114"/>
          </a:xfrm>
          <a:prstGeom prst="rect">
            <a:avLst/>
          </a:prstGeom>
        </p:spPr>
        <p:txBody>
          <a:bodyPr anchor="t" rtlCol="false" tIns="0" lIns="0" bIns="0" rIns="0">
            <a:spAutoFit/>
          </a:bodyPr>
          <a:lstStyle/>
          <a:p>
            <a:pPr algn="ctr">
              <a:lnSpc>
                <a:spcPts val="5533"/>
              </a:lnSpc>
            </a:pPr>
            <a:r>
              <a:rPr lang="en-US" sz="5171" b="true">
                <a:solidFill>
                  <a:srgbClr val="FFFFFF"/>
                </a:solidFill>
                <a:latin typeface="Poppins Bold"/>
                <a:ea typeface="Poppins Bold"/>
                <a:cs typeface="Poppins Bold"/>
                <a:sym typeface="Poppins Bold"/>
              </a:rPr>
              <a:t>Pipeline to build the structured puzzle</a:t>
            </a:r>
          </a:p>
        </p:txBody>
      </p:sp>
      <p:sp>
        <p:nvSpPr>
          <p:cNvPr name="TextBox 12" id="12"/>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5</a:t>
            </a:r>
          </a:p>
        </p:txBody>
      </p:sp>
      <p:grpSp>
        <p:nvGrpSpPr>
          <p:cNvPr name="Group 13" id="13"/>
          <p:cNvGrpSpPr/>
          <p:nvPr/>
        </p:nvGrpSpPr>
        <p:grpSpPr>
          <a:xfrm rot="0">
            <a:off x="540685" y="4686054"/>
            <a:ext cx="2867825" cy="682759"/>
            <a:chOff x="0" y="0"/>
            <a:chExt cx="3823767" cy="910345"/>
          </a:xfrm>
        </p:grpSpPr>
        <p:sp>
          <p:nvSpPr>
            <p:cNvPr name="TextBox 14" id="14"/>
            <p:cNvSpPr txBox="true"/>
            <p:nvPr/>
          </p:nvSpPr>
          <p:spPr>
            <a:xfrm rot="0">
              <a:off x="0" y="-47625"/>
              <a:ext cx="3823767" cy="445558"/>
            </a:xfrm>
            <a:prstGeom prst="rect">
              <a:avLst/>
            </a:prstGeom>
          </p:spPr>
          <p:txBody>
            <a:bodyPr anchor="t" rtlCol="false" tIns="0" lIns="0" bIns="0" rIns="0">
              <a:spAutoFit/>
            </a:bodyPr>
            <a:lstStyle/>
            <a:p>
              <a:pPr algn="ctr" marL="0" indent="0" lvl="0">
                <a:lnSpc>
                  <a:spcPts val="2600"/>
                </a:lnSpc>
                <a:spcBef>
                  <a:spcPct val="0"/>
                </a:spcBef>
              </a:pPr>
              <a:r>
                <a:rPr lang="en-US" b="true" sz="2000">
                  <a:solidFill>
                    <a:srgbClr val="FBFCFA"/>
                  </a:solidFill>
                  <a:latin typeface="Poppins Bold"/>
                  <a:ea typeface="Poppins Bold"/>
                  <a:cs typeface="Poppins Bold"/>
                  <a:sym typeface="Poppins Bold"/>
                </a:rPr>
                <a:t>Clean Gird </a:t>
              </a:r>
            </a:p>
          </p:txBody>
        </p:sp>
        <p:sp>
          <p:nvSpPr>
            <p:cNvPr name="TextBox 15" id="15"/>
            <p:cNvSpPr txBox="true"/>
            <p:nvPr/>
          </p:nvSpPr>
          <p:spPr>
            <a:xfrm rot="0">
              <a:off x="0" y="464786"/>
              <a:ext cx="3823767" cy="445558"/>
            </a:xfrm>
            <a:prstGeom prst="rect">
              <a:avLst/>
            </a:prstGeom>
          </p:spPr>
          <p:txBody>
            <a:bodyPr anchor="t" rtlCol="false" tIns="0" lIns="0" bIns="0" rIns="0">
              <a:spAutoFit/>
            </a:bodyPr>
            <a:lstStyle/>
            <a:p>
              <a:pPr algn="ctr" marL="0" indent="0" lvl="0">
                <a:lnSpc>
                  <a:spcPts val="2600"/>
                </a:lnSpc>
                <a:spcBef>
                  <a:spcPct val="0"/>
                </a:spcBef>
              </a:pPr>
            </a:p>
          </p:txBody>
        </p:sp>
      </p:grpSp>
      <p:grpSp>
        <p:nvGrpSpPr>
          <p:cNvPr name="Group 16" id="16"/>
          <p:cNvGrpSpPr/>
          <p:nvPr/>
        </p:nvGrpSpPr>
        <p:grpSpPr>
          <a:xfrm rot="0">
            <a:off x="9367732" y="4679166"/>
            <a:ext cx="3149615" cy="1004994"/>
            <a:chOff x="0" y="0"/>
            <a:chExt cx="4199486" cy="1339992"/>
          </a:xfrm>
        </p:grpSpPr>
        <p:sp>
          <p:nvSpPr>
            <p:cNvPr name="TextBox 17" id="17"/>
            <p:cNvSpPr txBox="true"/>
            <p:nvPr/>
          </p:nvSpPr>
          <p:spPr>
            <a:xfrm rot="0">
              <a:off x="0" y="-47625"/>
              <a:ext cx="4199486" cy="877358"/>
            </a:xfrm>
            <a:prstGeom prst="rect">
              <a:avLst/>
            </a:prstGeom>
          </p:spPr>
          <p:txBody>
            <a:bodyPr anchor="t" rtlCol="false" tIns="0" lIns="0" bIns="0" rIns="0">
              <a:spAutoFit/>
            </a:bodyPr>
            <a:lstStyle/>
            <a:p>
              <a:pPr algn="ctr" marL="0" indent="0" lvl="0">
                <a:lnSpc>
                  <a:spcPts val="2600"/>
                </a:lnSpc>
                <a:spcBef>
                  <a:spcPct val="0"/>
                </a:spcBef>
              </a:pPr>
              <a:r>
                <a:rPr lang="en-US" b="true" sz="2000">
                  <a:solidFill>
                    <a:srgbClr val="FBFCFA"/>
                  </a:solidFill>
                  <a:latin typeface="Poppins Bold"/>
                  <a:ea typeface="Poppins Bold"/>
                  <a:cs typeface="Poppins Bold"/>
                  <a:sym typeface="Poppins Bold"/>
                </a:rPr>
                <a:t>Detected Questions  Cell</a:t>
              </a:r>
            </a:p>
          </p:txBody>
        </p:sp>
        <p:sp>
          <p:nvSpPr>
            <p:cNvPr name="TextBox 18" id="18"/>
            <p:cNvSpPr txBox="true"/>
            <p:nvPr/>
          </p:nvSpPr>
          <p:spPr>
            <a:xfrm rot="0">
              <a:off x="0" y="894434"/>
              <a:ext cx="4199486" cy="445558"/>
            </a:xfrm>
            <a:prstGeom prst="rect">
              <a:avLst/>
            </a:prstGeom>
          </p:spPr>
          <p:txBody>
            <a:bodyPr anchor="t" rtlCol="false" tIns="0" lIns="0" bIns="0" rIns="0">
              <a:spAutoFit/>
            </a:bodyPr>
            <a:lstStyle/>
            <a:p>
              <a:pPr algn="ctr" marL="0" indent="0" lvl="0">
                <a:lnSpc>
                  <a:spcPts val="2600"/>
                </a:lnSpc>
                <a:spcBef>
                  <a:spcPct val="0"/>
                </a:spcBef>
              </a:pPr>
            </a:p>
          </p:txBody>
        </p:sp>
      </p:grpSp>
      <p:grpSp>
        <p:nvGrpSpPr>
          <p:cNvPr name="Group 19" id="19"/>
          <p:cNvGrpSpPr/>
          <p:nvPr/>
        </p:nvGrpSpPr>
        <p:grpSpPr>
          <a:xfrm rot="0">
            <a:off x="14476820" y="4679166"/>
            <a:ext cx="3270495" cy="1016572"/>
            <a:chOff x="0" y="0"/>
            <a:chExt cx="4360660" cy="1355429"/>
          </a:xfrm>
        </p:grpSpPr>
        <p:sp>
          <p:nvSpPr>
            <p:cNvPr name="TextBox 20" id="20"/>
            <p:cNvSpPr txBox="true"/>
            <p:nvPr/>
          </p:nvSpPr>
          <p:spPr>
            <a:xfrm rot="0">
              <a:off x="0" y="-47625"/>
              <a:ext cx="4360660" cy="877358"/>
            </a:xfrm>
            <a:prstGeom prst="rect">
              <a:avLst/>
            </a:prstGeom>
          </p:spPr>
          <p:txBody>
            <a:bodyPr anchor="t" rtlCol="false" tIns="0" lIns="0" bIns="0" rIns="0">
              <a:spAutoFit/>
            </a:bodyPr>
            <a:lstStyle/>
            <a:p>
              <a:pPr algn="ctr">
                <a:lnSpc>
                  <a:spcPts val="2600"/>
                </a:lnSpc>
              </a:pPr>
              <a:r>
                <a:rPr lang="en-US" sz="2000" b="true">
                  <a:solidFill>
                    <a:srgbClr val="FDFDFD"/>
                  </a:solidFill>
                  <a:latin typeface="Poppins Bold"/>
                  <a:ea typeface="Poppins Bold"/>
                  <a:cs typeface="Poppins Bold"/>
                  <a:sym typeface="Poppins Bold"/>
                </a:rPr>
                <a:t>Detected Arrows </a:t>
              </a:r>
            </a:p>
            <a:p>
              <a:pPr algn="ctr" marL="0" indent="0" lvl="0">
                <a:lnSpc>
                  <a:spcPts val="2600"/>
                </a:lnSpc>
                <a:spcBef>
                  <a:spcPct val="0"/>
                </a:spcBef>
              </a:pPr>
            </a:p>
          </p:txBody>
        </p:sp>
        <p:sp>
          <p:nvSpPr>
            <p:cNvPr name="TextBox 21" id="21"/>
            <p:cNvSpPr txBox="true"/>
            <p:nvPr/>
          </p:nvSpPr>
          <p:spPr>
            <a:xfrm rot="0">
              <a:off x="0" y="909871"/>
              <a:ext cx="4360660" cy="445558"/>
            </a:xfrm>
            <a:prstGeom prst="rect">
              <a:avLst/>
            </a:prstGeom>
          </p:spPr>
          <p:txBody>
            <a:bodyPr anchor="t" rtlCol="false" tIns="0" lIns="0" bIns="0" rIns="0">
              <a:spAutoFit/>
            </a:bodyPr>
            <a:lstStyle/>
            <a:p>
              <a:pPr algn="l" marL="0" indent="0" lvl="0">
                <a:lnSpc>
                  <a:spcPts val="2600"/>
                </a:lnSpc>
                <a:spcBef>
                  <a:spcPct val="0"/>
                </a:spcBef>
              </a:pPr>
            </a:p>
          </p:txBody>
        </p:sp>
      </p:grpSp>
      <p:sp>
        <p:nvSpPr>
          <p:cNvPr name="TextBox 22" id="22"/>
          <p:cNvSpPr txBox="true"/>
          <p:nvPr/>
        </p:nvSpPr>
        <p:spPr>
          <a:xfrm rot="0">
            <a:off x="1628912" y="3146337"/>
            <a:ext cx="7934252" cy="500253"/>
          </a:xfrm>
          <a:prstGeom prst="rect">
            <a:avLst/>
          </a:prstGeom>
        </p:spPr>
        <p:txBody>
          <a:bodyPr anchor="t" rtlCol="false" tIns="0" lIns="0" bIns="0" rIns="0">
            <a:spAutoFit/>
          </a:bodyPr>
          <a:lstStyle/>
          <a:p>
            <a:pPr algn="ctr">
              <a:lnSpc>
                <a:spcPts val="3456"/>
              </a:lnSpc>
            </a:pPr>
            <a:r>
              <a:rPr lang="en-US" sz="3600">
                <a:solidFill>
                  <a:srgbClr val="FFFFFF"/>
                </a:solidFill>
                <a:latin typeface="Poppins"/>
                <a:ea typeface="Poppins"/>
                <a:cs typeface="Poppins"/>
                <a:sym typeface="Poppins"/>
              </a:rPr>
              <a:t> WE CONVERT THE PHOTO INTO </a:t>
            </a:r>
          </a:p>
        </p:txBody>
      </p:sp>
      <p:grpSp>
        <p:nvGrpSpPr>
          <p:cNvPr name="Group 23" id="23"/>
          <p:cNvGrpSpPr/>
          <p:nvPr/>
        </p:nvGrpSpPr>
        <p:grpSpPr>
          <a:xfrm rot="0">
            <a:off x="1028700" y="6340058"/>
            <a:ext cx="4933877" cy="2764355"/>
            <a:chOff x="0" y="0"/>
            <a:chExt cx="798568" cy="447422"/>
          </a:xfrm>
        </p:grpSpPr>
        <p:sp>
          <p:nvSpPr>
            <p:cNvPr name="Freeform 24" id="24"/>
            <p:cNvSpPr/>
            <p:nvPr/>
          </p:nvSpPr>
          <p:spPr>
            <a:xfrm flipH="false" flipV="false" rot="0">
              <a:off x="0" y="0"/>
              <a:ext cx="798568" cy="447422"/>
            </a:xfrm>
            <a:custGeom>
              <a:avLst/>
              <a:gdLst/>
              <a:ahLst/>
              <a:cxnLst/>
              <a:rect r="r" b="b" t="t" l="l"/>
              <a:pathLst>
                <a:path h="447422" w="798568">
                  <a:moveTo>
                    <a:pt x="31383" y="0"/>
                  </a:moveTo>
                  <a:lnTo>
                    <a:pt x="767186" y="0"/>
                  </a:lnTo>
                  <a:cubicBezTo>
                    <a:pt x="775509" y="0"/>
                    <a:pt x="783491" y="3306"/>
                    <a:pt x="789377" y="9192"/>
                  </a:cubicBezTo>
                  <a:cubicBezTo>
                    <a:pt x="795262" y="15077"/>
                    <a:pt x="798568" y="23059"/>
                    <a:pt x="798568" y="31383"/>
                  </a:cubicBezTo>
                  <a:lnTo>
                    <a:pt x="798568" y="416040"/>
                  </a:lnTo>
                  <a:cubicBezTo>
                    <a:pt x="798568" y="424363"/>
                    <a:pt x="795262" y="432345"/>
                    <a:pt x="789377" y="438231"/>
                  </a:cubicBezTo>
                  <a:cubicBezTo>
                    <a:pt x="783491" y="444116"/>
                    <a:pt x="775509" y="447422"/>
                    <a:pt x="767186" y="447422"/>
                  </a:cubicBezTo>
                  <a:lnTo>
                    <a:pt x="31383" y="447422"/>
                  </a:lnTo>
                  <a:cubicBezTo>
                    <a:pt x="23059" y="447422"/>
                    <a:pt x="15077" y="444116"/>
                    <a:pt x="9192" y="438231"/>
                  </a:cubicBezTo>
                  <a:cubicBezTo>
                    <a:pt x="3306" y="432345"/>
                    <a:pt x="0" y="424363"/>
                    <a:pt x="0" y="416040"/>
                  </a:cubicBezTo>
                  <a:lnTo>
                    <a:pt x="0" y="31383"/>
                  </a:lnTo>
                  <a:cubicBezTo>
                    <a:pt x="0" y="23059"/>
                    <a:pt x="3306" y="15077"/>
                    <a:pt x="9192" y="9192"/>
                  </a:cubicBezTo>
                  <a:cubicBezTo>
                    <a:pt x="15077" y="3306"/>
                    <a:pt x="23059" y="0"/>
                    <a:pt x="31383"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5" id="25"/>
            <p:cNvSpPr txBox="true"/>
            <p:nvPr/>
          </p:nvSpPr>
          <p:spPr>
            <a:xfrm>
              <a:off x="0" y="-38100"/>
              <a:ext cx="798568" cy="485522"/>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498108" y="7080250"/>
            <a:ext cx="4194979" cy="21780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NumPy</a:t>
            </a:r>
          </a:p>
          <a:p>
            <a:pPr algn="l" marL="431801" indent="-215900" lvl="1">
              <a:lnSpc>
                <a:spcPts val="3400"/>
              </a:lnSpc>
              <a:buFont typeface="Arial"/>
              <a:buChar char="•"/>
            </a:pPr>
            <a:r>
              <a:rPr lang="en-US" sz="2000">
                <a:solidFill>
                  <a:srgbClr val="FFFFFF"/>
                </a:solidFill>
                <a:latin typeface="Poppins"/>
                <a:ea typeface="Poppins"/>
                <a:cs typeface="Poppins"/>
                <a:sym typeface="Poppins"/>
              </a:rPr>
              <a:t>OpenCV</a:t>
            </a:r>
          </a:p>
          <a:p>
            <a:pPr algn="l" marL="431801" indent="-215900" lvl="1">
              <a:lnSpc>
                <a:spcPts val="3400"/>
              </a:lnSpc>
              <a:buFont typeface="Arial"/>
              <a:buChar char="•"/>
            </a:pPr>
            <a:r>
              <a:rPr lang="en-US" sz="2000">
                <a:solidFill>
                  <a:srgbClr val="FFFFFF"/>
                </a:solidFill>
                <a:latin typeface="Poppins"/>
                <a:ea typeface="Poppins"/>
                <a:cs typeface="Poppins"/>
                <a:sym typeface="Poppins"/>
              </a:rPr>
              <a:t>Matplotlib</a:t>
            </a:r>
          </a:p>
          <a:p>
            <a:pPr algn="l" marL="431801" indent="-215900" lvl="1">
              <a:lnSpc>
                <a:spcPts val="3400"/>
              </a:lnSpc>
              <a:buFont typeface="Arial"/>
              <a:buChar char="•"/>
            </a:pPr>
            <a:r>
              <a:rPr lang="en-US" sz="2000">
                <a:solidFill>
                  <a:srgbClr val="FFFFFF"/>
                </a:solidFill>
                <a:latin typeface="Poppins"/>
                <a:ea typeface="Poppins"/>
                <a:cs typeface="Poppins"/>
                <a:sym typeface="Poppins"/>
              </a:rPr>
              <a:t>Pathlib</a:t>
            </a:r>
          </a:p>
          <a:p>
            <a:pPr algn="l">
              <a:lnSpc>
                <a:spcPts val="3400"/>
              </a:lnSpc>
            </a:pPr>
          </a:p>
        </p:txBody>
      </p:sp>
      <p:sp>
        <p:nvSpPr>
          <p:cNvPr name="TextBox 27" id="27"/>
          <p:cNvSpPr txBox="true"/>
          <p:nvPr/>
        </p:nvSpPr>
        <p:spPr>
          <a:xfrm rot="0">
            <a:off x="1609302" y="6579061"/>
            <a:ext cx="2469432"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Libraries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439166" y="2751955"/>
            <a:ext cx="8513670" cy="1954537"/>
            <a:chOff x="0" y="0"/>
            <a:chExt cx="1421743" cy="326399"/>
          </a:xfrm>
        </p:grpSpPr>
        <p:sp>
          <p:nvSpPr>
            <p:cNvPr name="Freeform 3" id="3"/>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39166" y="4939992"/>
            <a:ext cx="8513670" cy="1954537"/>
            <a:chOff x="0" y="0"/>
            <a:chExt cx="1421743" cy="326399"/>
          </a:xfrm>
        </p:grpSpPr>
        <p:sp>
          <p:nvSpPr>
            <p:cNvPr name="Freeform 6" id="6"/>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7" id="7"/>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82530" y="3237740"/>
            <a:ext cx="355951" cy="355951"/>
          </a:xfrm>
          <a:custGeom>
            <a:avLst/>
            <a:gdLst/>
            <a:ahLst/>
            <a:cxnLst/>
            <a:rect r="r" b="b" t="t" l="l"/>
            <a:pathLst>
              <a:path h="355951" w="355951">
                <a:moveTo>
                  <a:pt x="0" y="0"/>
                </a:moveTo>
                <a:lnTo>
                  <a:pt x="355950" y="0"/>
                </a:lnTo>
                <a:lnTo>
                  <a:pt x="355950" y="355951"/>
                </a:lnTo>
                <a:lnTo>
                  <a:pt x="0" y="35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82530" y="5432517"/>
            <a:ext cx="355951" cy="340690"/>
          </a:xfrm>
          <a:custGeom>
            <a:avLst/>
            <a:gdLst/>
            <a:ahLst/>
            <a:cxnLst/>
            <a:rect r="r" b="b" t="t" l="l"/>
            <a:pathLst>
              <a:path h="340690" w="355951">
                <a:moveTo>
                  <a:pt x="0" y="0"/>
                </a:moveTo>
                <a:lnTo>
                  <a:pt x="355950" y="0"/>
                </a:lnTo>
                <a:lnTo>
                  <a:pt x="355950" y="340690"/>
                </a:lnTo>
                <a:lnTo>
                  <a:pt x="0" y="34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57577" y="5692552"/>
            <a:ext cx="6924029" cy="1444734"/>
          </a:xfrm>
          <a:prstGeom prst="rect">
            <a:avLst/>
          </a:prstGeom>
        </p:spPr>
        <p:txBody>
          <a:bodyPr anchor="t" rtlCol="false" tIns="0" lIns="0" bIns="0" rIns="0">
            <a:spAutoFit/>
          </a:bodyPr>
          <a:lstStyle/>
          <a:p>
            <a:pPr algn="just">
              <a:lnSpc>
                <a:spcPts val="2869"/>
              </a:lnSpc>
            </a:pPr>
            <a:r>
              <a:rPr lang="en-US" sz="1688">
                <a:solidFill>
                  <a:srgbClr val="FFFFFF"/>
                </a:solidFill>
                <a:latin typeface="Poppins"/>
                <a:ea typeface="Poppins"/>
                <a:cs typeface="Poppins"/>
                <a:sym typeface="Poppins"/>
              </a:rPr>
              <a:t>Det</a:t>
            </a:r>
            <a:r>
              <a:rPr lang="en-US" sz="1688">
                <a:solidFill>
                  <a:srgbClr val="FFFFFF"/>
                </a:solidFill>
                <a:latin typeface="Poppins"/>
                <a:ea typeface="Poppins"/>
                <a:cs typeface="Poppins"/>
                <a:sym typeface="Poppins"/>
              </a:rPr>
              <a:t>ects horizontal and vertical lines that form the table structure.</a:t>
            </a:r>
          </a:p>
          <a:p>
            <a:pPr algn="just">
              <a:lnSpc>
                <a:spcPts val="2869"/>
              </a:lnSpc>
            </a:pPr>
          </a:p>
          <a:p>
            <a:pPr algn="just">
              <a:lnSpc>
                <a:spcPts val="2869"/>
              </a:lnSpc>
            </a:pPr>
          </a:p>
        </p:txBody>
      </p:sp>
      <p:grpSp>
        <p:nvGrpSpPr>
          <p:cNvPr name="Group 11" id="11"/>
          <p:cNvGrpSpPr/>
          <p:nvPr/>
        </p:nvGrpSpPr>
        <p:grpSpPr>
          <a:xfrm rot="0">
            <a:off x="409857" y="7127682"/>
            <a:ext cx="8513670" cy="1954537"/>
            <a:chOff x="0" y="0"/>
            <a:chExt cx="1421743" cy="326399"/>
          </a:xfrm>
        </p:grpSpPr>
        <p:sp>
          <p:nvSpPr>
            <p:cNvPr name="Freeform 12" id="12"/>
            <p:cNvSpPr/>
            <p:nvPr/>
          </p:nvSpPr>
          <p:spPr>
            <a:xfrm flipH="false" flipV="false" rot="0">
              <a:off x="0" y="0"/>
              <a:ext cx="1421743" cy="326399"/>
            </a:xfrm>
            <a:custGeom>
              <a:avLst/>
              <a:gdLst/>
              <a:ahLst/>
              <a:cxnLst/>
              <a:rect r="r" b="b" t="t" l="l"/>
              <a:pathLst>
                <a:path h="326399" w="1421743">
                  <a:moveTo>
                    <a:pt x="18187" y="0"/>
                  </a:moveTo>
                  <a:lnTo>
                    <a:pt x="1403556" y="0"/>
                  </a:lnTo>
                  <a:cubicBezTo>
                    <a:pt x="1413601" y="0"/>
                    <a:pt x="1421743" y="8143"/>
                    <a:pt x="1421743" y="18187"/>
                  </a:cubicBezTo>
                  <a:lnTo>
                    <a:pt x="1421743" y="308212"/>
                  </a:lnTo>
                  <a:cubicBezTo>
                    <a:pt x="1421743" y="318256"/>
                    <a:pt x="1413601" y="326399"/>
                    <a:pt x="1403556" y="326399"/>
                  </a:cubicBezTo>
                  <a:lnTo>
                    <a:pt x="18187" y="326399"/>
                  </a:lnTo>
                  <a:cubicBezTo>
                    <a:pt x="8143" y="326399"/>
                    <a:pt x="0" y="318256"/>
                    <a:pt x="0" y="308212"/>
                  </a:cubicBezTo>
                  <a:lnTo>
                    <a:pt x="0" y="18187"/>
                  </a:lnTo>
                  <a:cubicBezTo>
                    <a:pt x="0" y="8143"/>
                    <a:pt x="8143" y="0"/>
                    <a:pt x="1818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3" id="13"/>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53221" y="7620207"/>
            <a:ext cx="355951" cy="340690"/>
          </a:xfrm>
          <a:custGeom>
            <a:avLst/>
            <a:gdLst/>
            <a:ahLst/>
            <a:cxnLst/>
            <a:rect r="r" b="b" t="t" l="l"/>
            <a:pathLst>
              <a:path h="340690" w="355951">
                <a:moveTo>
                  <a:pt x="0" y="0"/>
                </a:moveTo>
                <a:lnTo>
                  <a:pt x="355950" y="0"/>
                </a:lnTo>
                <a:lnTo>
                  <a:pt x="355950" y="340690"/>
                </a:lnTo>
                <a:lnTo>
                  <a:pt x="0" y="34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7184448" y="9324975"/>
            <a:ext cx="608679" cy="602564"/>
            <a:chOff x="0" y="0"/>
            <a:chExt cx="85797" cy="84935"/>
          </a:xfrm>
        </p:grpSpPr>
        <p:sp>
          <p:nvSpPr>
            <p:cNvPr name="Freeform 16" id="16"/>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7" id="17"/>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428267" y="1078349"/>
            <a:ext cx="4511256" cy="825881"/>
          </a:xfrm>
          <a:prstGeom prst="rect">
            <a:avLst/>
          </a:prstGeom>
        </p:spPr>
        <p:txBody>
          <a:bodyPr anchor="t" rtlCol="false" tIns="0" lIns="0" bIns="0" rIns="0">
            <a:spAutoFit/>
          </a:bodyPr>
          <a:lstStyle/>
          <a:p>
            <a:pPr algn="ctr">
              <a:lnSpc>
                <a:spcPts val="5992"/>
              </a:lnSpc>
            </a:pPr>
            <a:r>
              <a:rPr lang="en-US" sz="5600" b="true">
                <a:solidFill>
                  <a:srgbClr val="FFFFFF"/>
                </a:solidFill>
                <a:latin typeface="Poppins Bold"/>
                <a:ea typeface="Poppins Bold"/>
                <a:cs typeface="Poppins Bold"/>
                <a:sym typeface="Poppins Bold"/>
              </a:rPr>
              <a:t>Clean Gird </a:t>
            </a:r>
          </a:p>
        </p:txBody>
      </p:sp>
      <p:sp>
        <p:nvSpPr>
          <p:cNvPr name="TextBox 19" id="19"/>
          <p:cNvSpPr txBox="true"/>
          <p:nvPr/>
        </p:nvSpPr>
        <p:spPr>
          <a:xfrm rot="0">
            <a:off x="1457577" y="3504514"/>
            <a:ext cx="6924029" cy="1444734"/>
          </a:xfrm>
          <a:prstGeom prst="rect">
            <a:avLst/>
          </a:prstGeom>
        </p:spPr>
        <p:txBody>
          <a:bodyPr anchor="t" rtlCol="false" tIns="0" lIns="0" bIns="0" rIns="0">
            <a:spAutoFit/>
          </a:bodyPr>
          <a:lstStyle/>
          <a:p>
            <a:pPr algn="just">
              <a:lnSpc>
                <a:spcPts val="2869"/>
              </a:lnSpc>
            </a:pPr>
            <a:r>
              <a:rPr lang="en-US" sz="1688">
                <a:solidFill>
                  <a:srgbClr val="FFFFFF"/>
                </a:solidFill>
                <a:latin typeface="Poppins"/>
                <a:ea typeface="Poppins"/>
                <a:cs typeface="Poppins"/>
                <a:sym typeface="Poppins"/>
              </a:rPr>
              <a:t>Impro</a:t>
            </a:r>
            <a:r>
              <a:rPr lang="en-US" sz="1688">
                <a:solidFill>
                  <a:srgbClr val="FFFFFF"/>
                </a:solidFill>
                <a:latin typeface="Poppins"/>
                <a:ea typeface="Poppins"/>
                <a:cs typeface="Poppins"/>
                <a:sym typeface="Poppins"/>
              </a:rPr>
              <a:t>ves image quality and converts it into a clean black-and-white representation.</a:t>
            </a:r>
          </a:p>
          <a:p>
            <a:pPr algn="just">
              <a:lnSpc>
                <a:spcPts val="2869"/>
              </a:lnSpc>
            </a:pPr>
          </a:p>
          <a:p>
            <a:pPr algn="just">
              <a:lnSpc>
                <a:spcPts val="2869"/>
              </a:lnSpc>
            </a:pPr>
          </a:p>
        </p:txBody>
      </p:sp>
      <p:sp>
        <p:nvSpPr>
          <p:cNvPr name="TextBox 20" id="20"/>
          <p:cNvSpPr txBox="true"/>
          <p:nvPr/>
        </p:nvSpPr>
        <p:spPr>
          <a:xfrm rot="0">
            <a:off x="1457577" y="3148431"/>
            <a:ext cx="4726259" cy="906684"/>
          </a:xfrm>
          <a:prstGeom prst="rect">
            <a:avLst/>
          </a:prstGeom>
        </p:spPr>
        <p:txBody>
          <a:bodyPr anchor="t" rtlCol="false" tIns="0" lIns="0" bIns="0" rIns="0">
            <a:spAutoFit/>
          </a:bodyPr>
          <a:lstStyle/>
          <a:p>
            <a:pPr algn="l">
              <a:lnSpc>
                <a:spcPts val="2363"/>
              </a:lnSpc>
            </a:pPr>
            <a:r>
              <a:rPr lang="en-US" sz="1688" b="true">
                <a:solidFill>
                  <a:srgbClr val="FFFFFF"/>
                </a:solidFill>
                <a:latin typeface="Poppins Bold"/>
                <a:ea typeface="Poppins Bold"/>
                <a:cs typeface="Poppins Bold"/>
                <a:sym typeface="Poppins Bold"/>
              </a:rPr>
              <a:t>Image enhancement &amp; binarization</a:t>
            </a:r>
          </a:p>
          <a:p>
            <a:pPr algn="l">
              <a:lnSpc>
                <a:spcPts val="2363"/>
              </a:lnSpc>
            </a:pPr>
          </a:p>
          <a:p>
            <a:pPr algn="l">
              <a:lnSpc>
                <a:spcPts val="2363"/>
              </a:lnSpc>
              <a:spcBef>
                <a:spcPct val="0"/>
              </a:spcBef>
            </a:pPr>
          </a:p>
        </p:txBody>
      </p:sp>
      <p:sp>
        <p:nvSpPr>
          <p:cNvPr name="TextBox 21" id="21"/>
          <p:cNvSpPr txBox="true"/>
          <p:nvPr/>
        </p:nvSpPr>
        <p:spPr>
          <a:xfrm rot="0">
            <a:off x="1457577" y="5336468"/>
            <a:ext cx="4726259" cy="906684"/>
          </a:xfrm>
          <a:prstGeom prst="rect">
            <a:avLst/>
          </a:prstGeom>
        </p:spPr>
        <p:txBody>
          <a:bodyPr anchor="t" rtlCol="false" tIns="0" lIns="0" bIns="0" rIns="0">
            <a:spAutoFit/>
          </a:bodyPr>
          <a:lstStyle/>
          <a:p>
            <a:pPr algn="l">
              <a:lnSpc>
                <a:spcPts val="2363"/>
              </a:lnSpc>
            </a:pPr>
            <a:r>
              <a:rPr lang="en-US" sz="1688" b="true">
                <a:solidFill>
                  <a:srgbClr val="FFFFFF"/>
                </a:solidFill>
                <a:latin typeface="Poppins Bold"/>
                <a:ea typeface="Poppins Bold"/>
                <a:cs typeface="Poppins Bold"/>
                <a:sym typeface="Poppins Bold"/>
              </a:rPr>
              <a:t>Grid line detection </a:t>
            </a:r>
          </a:p>
          <a:p>
            <a:pPr algn="l">
              <a:lnSpc>
                <a:spcPts val="2363"/>
              </a:lnSpc>
            </a:pPr>
          </a:p>
          <a:p>
            <a:pPr algn="l">
              <a:lnSpc>
                <a:spcPts val="2363"/>
              </a:lnSpc>
              <a:spcBef>
                <a:spcPct val="0"/>
              </a:spcBef>
            </a:pPr>
          </a:p>
        </p:txBody>
      </p:sp>
      <p:sp>
        <p:nvSpPr>
          <p:cNvPr name="TextBox 22" id="22"/>
          <p:cNvSpPr txBox="true"/>
          <p:nvPr/>
        </p:nvSpPr>
        <p:spPr>
          <a:xfrm rot="0">
            <a:off x="1428267" y="7880241"/>
            <a:ext cx="6924029" cy="1444734"/>
          </a:xfrm>
          <a:prstGeom prst="rect">
            <a:avLst/>
          </a:prstGeom>
        </p:spPr>
        <p:txBody>
          <a:bodyPr anchor="t" rtlCol="false" tIns="0" lIns="0" bIns="0" rIns="0">
            <a:spAutoFit/>
          </a:bodyPr>
          <a:lstStyle/>
          <a:p>
            <a:pPr algn="just">
              <a:lnSpc>
                <a:spcPts val="2869"/>
              </a:lnSpc>
            </a:pPr>
            <a:r>
              <a:rPr lang="en-US" sz="1688">
                <a:solidFill>
                  <a:srgbClr val="FFFFFF"/>
                </a:solidFill>
                <a:latin typeface="Poppins"/>
                <a:ea typeface="Poppins"/>
                <a:cs typeface="Poppins"/>
                <a:sym typeface="Poppins"/>
              </a:rPr>
              <a:t>Ref</a:t>
            </a:r>
            <a:r>
              <a:rPr lang="en-US" sz="1688">
                <a:solidFill>
                  <a:srgbClr val="FFFFFF"/>
                </a:solidFill>
                <a:latin typeface="Poppins"/>
                <a:ea typeface="Poppins"/>
                <a:cs typeface="Poppins"/>
                <a:sym typeface="Poppins"/>
              </a:rPr>
              <a:t>ines detected lines and keeps only valid grid intersection points.</a:t>
            </a:r>
          </a:p>
          <a:p>
            <a:pPr algn="just">
              <a:lnSpc>
                <a:spcPts val="2869"/>
              </a:lnSpc>
            </a:pPr>
          </a:p>
          <a:p>
            <a:pPr algn="just">
              <a:lnSpc>
                <a:spcPts val="2869"/>
              </a:lnSpc>
            </a:pPr>
          </a:p>
        </p:txBody>
      </p:sp>
      <p:sp>
        <p:nvSpPr>
          <p:cNvPr name="TextBox 23" id="23"/>
          <p:cNvSpPr txBox="true"/>
          <p:nvPr/>
        </p:nvSpPr>
        <p:spPr>
          <a:xfrm rot="0">
            <a:off x="1428267" y="7524158"/>
            <a:ext cx="4726259" cy="906684"/>
          </a:xfrm>
          <a:prstGeom prst="rect">
            <a:avLst/>
          </a:prstGeom>
        </p:spPr>
        <p:txBody>
          <a:bodyPr anchor="t" rtlCol="false" tIns="0" lIns="0" bIns="0" rIns="0">
            <a:spAutoFit/>
          </a:bodyPr>
          <a:lstStyle/>
          <a:p>
            <a:pPr algn="l">
              <a:lnSpc>
                <a:spcPts val="2363"/>
              </a:lnSpc>
            </a:pPr>
            <a:r>
              <a:rPr lang="en-US" sz="1688" b="true">
                <a:solidFill>
                  <a:srgbClr val="FFFFFF"/>
                </a:solidFill>
                <a:latin typeface="Poppins Bold"/>
                <a:ea typeface="Poppins Bold"/>
                <a:cs typeface="Poppins Bold"/>
                <a:sym typeface="Poppins Bold"/>
              </a:rPr>
              <a:t>Grid refinement &amp; intersection filtering</a:t>
            </a:r>
          </a:p>
          <a:p>
            <a:pPr algn="l">
              <a:lnSpc>
                <a:spcPts val="2363"/>
              </a:lnSpc>
            </a:pPr>
          </a:p>
          <a:p>
            <a:pPr algn="l">
              <a:lnSpc>
                <a:spcPts val="2363"/>
              </a:lnSpc>
              <a:spcBef>
                <a:spcPct val="0"/>
              </a:spcBef>
            </a:pPr>
          </a:p>
        </p:txBody>
      </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6</a:t>
            </a:r>
          </a:p>
        </p:txBody>
      </p:sp>
      <p:grpSp>
        <p:nvGrpSpPr>
          <p:cNvPr name="Group 25" id="25"/>
          <p:cNvGrpSpPr/>
          <p:nvPr/>
        </p:nvGrpSpPr>
        <p:grpSpPr>
          <a:xfrm rot="0">
            <a:off x="9360344" y="2751955"/>
            <a:ext cx="8517799" cy="1955485"/>
            <a:chOff x="0" y="0"/>
            <a:chExt cx="1421743" cy="326399"/>
          </a:xfrm>
        </p:grpSpPr>
        <p:sp>
          <p:nvSpPr>
            <p:cNvPr name="Freeform 26" id="26"/>
            <p:cNvSpPr/>
            <p:nvPr/>
          </p:nvSpPr>
          <p:spPr>
            <a:xfrm flipH="false" flipV="false" rot="0">
              <a:off x="0" y="0"/>
              <a:ext cx="1421743" cy="326399"/>
            </a:xfrm>
            <a:custGeom>
              <a:avLst/>
              <a:gdLst/>
              <a:ahLst/>
              <a:cxnLst/>
              <a:rect r="r" b="b" t="t" l="l"/>
              <a:pathLst>
                <a:path h="326399" w="1421743">
                  <a:moveTo>
                    <a:pt x="18178" y="0"/>
                  </a:moveTo>
                  <a:lnTo>
                    <a:pt x="1403565" y="0"/>
                  </a:lnTo>
                  <a:cubicBezTo>
                    <a:pt x="1413605" y="0"/>
                    <a:pt x="1421743" y="8139"/>
                    <a:pt x="1421743" y="18178"/>
                  </a:cubicBezTo>
                  <a:lnTo>
                    <a:pt x="1421743" y="308220"/>
                  </a:lnTo>
                  <a:cubicBezTo>
                    <a:pt x="1421743" y="313042"/>
                    <a:pt x="1419828" y="317665"/>
                    <a:pt x="1416419" y="321074"/>
                  </a:cubicBezTo>
                  <a:cubicBezTo>
                    <a:pt x="1413010" y="324483"/>
                    <a:pt x="1408386" y="326399"/>
                    <a:pt x="1403565" y="326399"/>
                  </a:cubicBezTo>
                  <a:lnTo>
                    <a:pt x="18178" y="326399"/>
                  </a:lnTo>
                  <a:cubicBezTo>
                    <a:pt x="8139" y="326399"/>
                    <a:pt x="0" y="318260"/>
                    <a:pt x="0" y="308220"/>
                  </a:cubicBezTo>
                  <a:lnTo>
                    <a:pt x="0" y="18178"/>
                  </a:lnTo>
                  <a:cubicBezTo>
                    <a:pt x="0" y="8139"/>
                    <a:pt x="8139" y="0"/>
                    <a:pt x="18178"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7" id="27"/>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9703873" y="3244719"/>
            <a:ext cx="356124" cy="340856"/>
          </a:xfrm>
          <a:custGeom>
            <a:avLst/>
            <a:gdLst/>
            <a:ahLst/>
            <a:cxnLst/>
            <a:rect r="r" b="b" t="t" l="l"/>
            <a:pathLst>
              <a:path h="340856" w="356124">
                <a:moveTo>
                  <a:pt x="0" y="0"/>
                </a:moveTo>
                <a:lnTo>
                  <a:pt x="356124" y="0"/>
                </a:lnTo>
                <a:lnTo>
                  <a:pt x="356124" y="340855"/>
                </a:lnTo>
                <a:lnTo>
                  <a:pt x="0" y="3408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9" id="29"/>
          <p:cNvSpPr txBox="true"/>
          <p:nvPr/>
        </p:nvSpPr>
        <p:spPr>
          <a:xfrm rot="0">
            <a:off x="10379248" y="3504930"/>
            <a:ext cx="6927387" cy="1445383"/>
          </a:xfrm>
          <a:prstGeom prst="rect">
            <a:avLst/>
          </a:prstGeom>
        </p:spPr>
        <p:txBody>
          <a:bodyPr anchor="t" rtlCol="false" tIns="0" lIns="0" bIns="0" rIns="0">
            <a:spAutoFit/>
          </a:bodyPr>
          <a:lstStyle/>
          <a:p>
            <a:pPr algn="just">
              <a:lnSpc>
                <a:spcPts val="2871"/>
              </a:lnSpc>
            </a:pPr>
            <a:r>
              <a:rPr lang="en-US" sz="1688">
                <a:solidFill>
                  <a:srgbClr val="FFFFFF"/>
                </a:solidFill>
                <a:latin typeface="Poppins"/>
                <a:ea typeface="Poppins"/>
                <a:cs typeface="Poppins"/>
                <a:sym typeface="Poppins"/>
              </a:rPr>
              <a:t>Reco</a:t>
            </a:r>
            <a:r>
              <a:rPr lang="en-US" sz="1688">
                <a:solidFill>
                  <a:srgbClr val="FFFFFF"/>
                </a:solidFill>
                <a:latin typeface="Poppins"/>
                <a:ea typeface="Poppins"/>
                <a:cs typeface="Poppins"/>
                <a:sym typeface="Poppins"/>
              </a:rPr>
              <a:t>nstructs a regular grid with consistent cell spacing.</a:t>
            </a:r>
          </a:p>
          <a:p>
            <a:pPr algn="just">
              <a:lnSpc>
                <a:spcPts val="2871"/>
              </a:lnSpc>
            </a:pPr>
          </a:p>
          <a:p>
            <a:pPr algn="just">
              <a:lnSpc>
                <a:spcPts val="2871"/>
              </a:lnSpc>
            </a:pPr>
          </a:p>
          <a:p>
            <a:pPr algn="just">
              <a:lnSpc>
                <a:spcPts val="2871"/>
              </a:lnSpc>
            </a:pPr>
          </a:p>
        </p:txBody>
      </p:sp>
      <p:sp>
        <p:nvSpPr>
          <p:cNvPr name="TextBox 30" id="30"/>
          <p:cNvSpPr txBox="true"/>
          <p:nvPr/>
        </p:nvSpPr>
        <p:spPr>
          <a:xfrm rot="0">
            <a:off x="10379248" y="3148651"/>
            <a:ext cx="4728551" cy="609481"/>
          </a:xfrm>
          <a:prstGeom prst="rect">
            <a:avLst/>
          </a:prstGeom>
        </p:spPr>
        <p:txBody>
          <a:bodyPr anchor="t" rtlCol="false" tIns="0" lIns="0" bIns="0" rIns="0">
            <a:spAutoFit/>
          </a:bodyPr>
          <a:lstStyle/>
          <a:p>
            <a:pPr algn="l">
              <a:lnSpc>
                <a:spcPts val="2364"/>
              </a:lnSpc>
            </a:pPr>
            <a:r>
              <a:rPr lang="en-US" sz="1688" b="true">
                <a:solidFill>
                  <a:srgbClr val="FFFFFF"/>
                </a:solidFill>
                <a:latin typeface="Poppins Bold"/>
                <a:ea typeface="Poppins Bold"/>
                <a:cs typeface="Poppins Bold"/>
                <a:sym typeface="Poppins Bold"/>
              </a:rPr>
              <a:t>Uniform grid reconstruction</a:t>
            </a:r>
          </a:p>
          <a:p>
            <a:pPr algn="l">
              <a:lnSpc>
                <a:spcPts val="2364"/>
              </a:lnSpc>
              <a:spcBef>
                <a:spcPct val="0"/>
              </a:spcBef>
            </a:pPr>
          </a:p>
        </p:txBody>
      </p:sp>
      <p:grpSp>
        <p:nvGrpSpPr>
          <p:cNvPr name="Group 31" id="31"/>
          <p:cNvGrpSpPr/>
          <p:nvPr/>
        </p:nvGrpSpPr>
        <p:grpSpPr>
          <a:xfrm rot="0">
            <a:off x="9360344" y="4970418"/>
            <a:ext cx="8517799" cy="1955485"/>
            <a:chOff x="0" y="0"/>
            <a:chExt cx="1421743" cy="326399"/>
          </a:xfrm>
        </p:grpSpPr>
        <p:sp>
          <p:nvSpPr>
            <p:cNvPr name="Freeform 32" id="32"/>
            <p:cNvSpPr/>
            <p:nvPr/>
          </p:nvSpPr>
          <p:spPr>
            <a:xfrm flipH="false" flipV="false" rot="0">
              <a:off x="0" y="0"/>
              <a:ext cx="1421743" cy="326399"/>
            </a:xfrm>
            <a:custGeom>
              <a:avLst/>
              <a:gdLst/>
              <a:ahLst/>
              <a:cxnLst/>
              <a:rect r="r" b="b" t="t" l="l"/>
              <a:pathLst>
                <a:path h="326399" w="1421743">
                  <a:moveTo>
                    <a:pt x="18178" y="0"/>
                  </a:moveTo>
                  <a:lnTo>
                    <a:pt x="1403565" y="0"/>
                  </a:lnTo>
                  <a:cubicBezTo>
                    <a:pt x="1413605" y="0"/>
                    <a:pt x="1421743" y="8139"/>
                    <a:pt x="1421743" y="18178"/>
                  </a:cubicBezTo>
                  <a:lnTo>
                    <a:pt x="1421743" y="308220"/>
                  </a:lnTo>
                  <a:cubicBezTo>
                    <a:pt x="1421743" y="313042"/>
                    <a:pt x="1419828" y="317665"/>
                    <a:pt x="1416419" y="321074"/>
                  </a:cubicBezTo>
                  <a:cubicBezTo>
                    <a:pt x="1413010" y="324483"/>
                    <a:pt x="1408386" y="326399"/>
                    <a:pt x="1403565" y="326399"/>
                  </a:cubicBezTo>
                  <a:lnTo>
                    <a:pt x="18178" y="326399"/>
                  </a:lnTo>
                  <a:cubicBezTo>
                    <a:pt x="8139" y="326399"/>
                    <a:pt x="0" y="318260"/>
                    <a:pt x="0" y="308220"/>
                  </a:cubicBezTo>
                  <a:lnTo>
                    <a:pt x="0" y="18178"/>
                  </a:lnTo>
                  <a:cubicBezTo>
                    <a:pt x="0" y="8139"/>
                    <a:pt x="8139" y="0"/>
                    <a:pt x="18178"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33" id="33"/>
            <p:cNvSpPr txBox="true"/>
            <p:nvPr/>
          </p:nvSpPr>
          <p:spPr>
            <a:xfrm>
              <a:off x="0" y="-38100"/>
              <a:ext cx="1421743" cy="364499"/>
            </a:xfrm>
            <a:prstGeom prst="rect">
              <a:avLst/>
            </a:prstGeom>
          </p:spPr>
          <p:txBody>
            <a:bodyPr anchor="ctr" rtlCol="false" tIns="50800" lIns="50800" bIns="50800" rIns="50800"/>
            <a:lstStyle/>
            <a:p>
              <a:pPr algn="ctr">
                <a:lnSpc>
                  <a:spcPts val="2659"/>
                </a:lnSpc>
                <a:spcBef>
                  <a:spcPct val="0"/>
                </a:spcBef>
              </a:pPr>
            </a:p>
          </p:txBody>
        </p:sp>
      </p:grpSp>
      <p:sp>
        <p:nvSpPr>
          <p:cNvPr name="Freeform 34" id="34"/>
          <p:cNvSpPr/>
          <p:nvPr/>
        </p:nvSpPr>
        <p:spPr>
          <a:xfrm flipH="false" flipV="false" rot="0">
            <a:off x="9703873" y="5463181"/>
            <a:ext cx="356124" cy="340856"/>
          </a:xfrm>
          <a:custGeom>
            <a:avLst/>
            <a:gdLst/>
            <a:ahLst/>
            <a:cxnLst/>
            <a:rect r="r" b="b" t="t" l="l"/>
            <a:pathLst>
              <a:path h="340856" w="356124">
                <a:moveTo>
                  <a:pt x="0" y="0"/>
                </a:moveTo>
                <a:lnTo>
                  <a:pt x="356124" y="0"/>
                </a:lnTo>
                <a:lnTo>
                  <a:pt x="356124" y="340856"/>
                </a:lnTo>
                <a:lnTo>
                  <a:pt x="0" y="340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5" id="35"/>
          <p:cNvSpPr txBox="true"/>
          <p:nvPr/>
        </p:nvSpPr>
        <p:spPr>
          <a:xfrm rot="0">
            <a:off x="10379248" y="5723393"/>
            <a:ext cx="6927387" cy="2169312"/>
          </a:xfrm>
          <a:prstGeom prst="rect">
            <a:avLst/>
          </a:prstGeom>
        </p:spPr>
        <p:txBody>
          <a:bodyPr anchor="t" rtlCol="false" tIns="0" lIns="0" bIns="0" rIns="0">
            <a:spAutoFit/>
          </a:bodyPr>
          <a:lstStyle/>
          <a:p>
            <a:pPr algn="just">
              <a:lnSpc>
                <a:spcPts val="2871"/>
              </a:lnSpc>
            </a:pPr>
            <a:r>
              <a:rPr lang="en-US" sz="1688">
                <a:solidFill>
                  <a:srgbClr val="FFFFFF"/>
                </a:solidFill>
                <a:latin typeface="Poppins"/>
                <a:ea typeface="Poppins"/>
                <a:cs typeface="Poppins"/>
                <a:sym typeface="Poppins"/>
              </a:rPr>
              <a:t>Extract</a:t>
            </a:r>
            <a:r>
              <a:rPr lang="en-US" sz="1688">
                <a:solidFill>
                  <a:srgbClr val="FFFFFF"/>
                </a:solidFill>
                <a:latin typeface="Poppins"/>
                <a:ea typeface="Poppins"/>
                <a:cs typeface="Poppins"/>
                <a:sym typeface="Poppins"/>
              </a:rPr>
              <a:t>s  table cells  with a fixed 13×10 layout.</a:t>
            </a:r>
          </a:p>
          <a:p>
            <a:pPr algn="just">
              <a:lnSpc>
                <a:spcPts val="2871"/>
              </a:lnSpc>
            </a:pPr>
          </a:p>
          <a:p>
            <a:pPr algn="just">
              <a:lnSpc>
                <a:spcPts val="2871"/>
              </a:lnSpc>
            </a:pPr>
          </a:p>
          <a:p>
            <a:pPr algn="just">
              <a:lnSpc>
                <a:spcPts val="2871"/>
              </a:lnSpc>
            </a:pPr>
          </a:p>
          <a:p>
            <a:pPr algn="just">
              <a:lnSpc>
                <a:spcPts val="2871"/>
              </a:lnSpc>
            </a:pPr>
          </a:p>
          <a:p>
            <a:pPr algn="just">
              <a:lnSpc>
                <a:spcPts val="2871"/>
              </a:lnSpc>
            </a:pPr>
          </a:p>
        </p:txBody>
      </p:sp>
      <p:sp>
        <p:nvSpPr>
          <p:cNvPr name="TextBox 36" id="36"/>
          <p:cNvSpPr txBox="true"/>
          <p:nvPr/>
        </p:nvSpPr>
        <p:spPr>
          <a:xfrm rot="0">
            <a:off x="10379248" y="5367114"/>
            <a:ext cx="4728551" cy="609481"/>
          </a:xfrm>
          <a:prstGeom prst="rect">
            <a:avLst/>
          </a:prstGeom>
        </p:spPr>
        <p:txBody>
          <a:bodyPr anchor="t" rtlCol="false" tIns="0" lIns="0" bIns="0" rIns="0">
            <a:spAutoFit/>
          </a:bodyPr>
          <a:lstStyle/>
          <a:p>
            <a:pPr algn="l">
              <a:lnSpc>
                <a:spcPts val="2364"/>
              </a:lnSpc>
            </a:pPr>
            <a:r>
              <a:rPr lang="en-US" sz="1688" b="true">
                <a:solidFill>
                  <a:srgbClr val="FFFFFF"/>
                </a:solidFill>
                <a:latin typeface="Poppins Bold"/>
                <a:ea typeface="Poppins Bold"/>
                <a:cs typeface="Poppins Bold"/>
                <a:sym typeface="Poppins Bold"/>
              </a:rPr>
              <a:t> cell extraction (13 × 10)</a:t>
            </a:r>
          </a:p>
          <a:p>
            <a:pPr algn="l">
              <a:lnSpc>
                <a:spcPts val="236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7184448" y="9324975"/>
            <a:ext cx="608679" cy="602564"/>
            <a:chOff x="0" y="0"/>
            <a:chExt cx="85797" cy="84935"/>
          </a:xfrm>
        </p:grpSpPr>
        <p:sp>
          <p:nvSpPr>
            <p:cNvPr name="Freeform 3" id="3"/>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58009" y="3411116"/>
            <a:ext cx="4121782" cy="5338844"/>
          </a:xfrm>
          <a:custGeom>
            <a:avLst/>
            <a:gdLst/>
            <a:ahLst/>
            <a:cxnLst/>
            <a:rect r="r" b="b" t="t" l="l"/>
            <a:pathLst>
              <a:path h="5338844" w="4121782">
                <a:moveTo>
                  <a:pt x="0" y="0"/>
                </a:moveTo>
                <a:lnTo>
                  <a:pt x="4121782" y="0"/>
                </a:lnTo>
                <a:lnTo>
                  <a:pt x="4121782" y="5338844"/>
                </a:lnTo>
                <a:lnTo>
                  <a:pt x="0" y="5338844"/>
                </a:lnTo>
                <a:lnTo>
                  <a:pt x="0" y="0"/>
                </a:lnTo>
                <a:close/>
              </a:path>
            </a:pathLst>
          </a:custGeom>
          <a:blipFill>
            <a:blip r:embed="rId2"/>
            <a:stretch>
              <a:fillRect l="0" t="0" r="0" b="0"/>
            </a:stretch>
          </a:blipFill>
        </p:spPr>
      </p:sp>
      <p:sp>
        <p:nvSpPr>
          <p:cNvPr name="Freeform 6" id="6"/>
          <p:cNvSpPr/>
          <p:nvPr/>
        </p:nvSpPr>
        <p:spPr>
          <a:xfrm flipH="false" flipV="false" rot="0">
            <a:off x="4859994" y="3411116"/>
            <a:ext cx="4088876" cy="5338844"/>
          </a:xfrm>
          <a:custGeom>
            <a:avLst/>
            <a:gdLst/>
            <a:ahLst/>
            <a:cxnLst/>
            <a:rect r="r" b="b" t="t" l="l"/>
            <a:pathLst>
              <a:path h="5338844" w="4088876">
                <a:moveTo>
                  <a:pt x="0" y="0"/>
                </a:moveTo>
                <a:lnTo>
                  <a:pt x="4088877" y="0"/>
                </a:lnTo>
                <a:lnTo>
                  <a:pt x="4088877" y="5338844"/>
                </a:lnTo>
                <a:lnTo>
                  <a:pt x="0" y="5338844"/>
                </a:lnTo>
                <a:lnTo>
                  <a:pt x="0" y="0"/>
                </a:lnTo>
                <a:close/>
              </a:path>
            </a:pathLst>
          </a:custGeom>
          <a:blipFill>
            <a:blip r:embed="rId3"/>
            <a:stretch>
              <a:fillRect l="0" t="0" r="0" b="0"/>
            </a:stretch>
          </a:blipFill>
        </p:spPr>
      </p:sp>
      <p:sp>
        <p:nvSpPr>
          <p:cNvPr name="Freeform 7" id="7"/>
          <p:cNvSpPr/>
          <p:nvPr/>
        </p:nvSpPr>
        <p:spPr>
          <a:xfrm flipH="false" flipV="false" rot="0">
            <a:off x="13623103" y="3411116"/>
            <a:ext cx="4121782" cy="5338844"/>
          </a:xfrm>
          <a:custGeom>
            <a:avLst/>
            <a:gdLst/>
            <a:ahLst/>
            <a:cxnLst/>
            <a:rect r="r" b="b" t="t" l="l"/>
            <a:pathLst>
              <a:path h="5338844" w="4121782">
                <a:moveTo>
                  <a:pt x="0" y="0"/>
                </a:moveTo>
                <a:lnTo>
                  <a:pt x="4121782" y="0"/>
                </a:lnTo>
                <a:lnTo>
                  <a:pt x="4121782" y="5338844"/>
                </a:lnTo>
                <a:lnTo>
                  <a:pt x="0" y="5338844"/>
                </a:lnTo>
                <a:lnTo>
                  <a:pt x="0" y="0"/>
                </a:lnTo>
                <a:close/>
              </a:path>
            </a:pathLst>
          </a:custGeom>
          <a:blipFill>
            <a:blip r:embed="rId4"/>
            <a:stretch>
              <a:fillRect l="0" t="0" r="0" b="0"/>
            </a:stretch>
          </a:blipFill>
        </p:spPr>
      </p:sp>
      <p:sp>
        <p:nvSpPr>
          <p:cNvPr name="Freeform 8" id="8"/>
          <p:cNvSpPr/>
          <p:nvPr/>
        </p:nvSpPr>
        <p:spPr>
          <a:xfrm flipH="false" flipV="false" rot="0">
            <a:off x="9225096" y="3411116"/>
            <a:ext cx="4121782" cy="5338844"/>
          </a:xfrm>
          <a:custGeom>
            <a:avLst/>
            <a:gdLst/>
            <a:ahLst/>
            <a:cxnLst/>
            <a:rect r="r" b="b" t="t" l="l"/>
            <a:pathLst>
              <a:path h="5338844" w="4121782">
                <a:moveTo>
                  <a:pt x="0" y="0"/>
                </a:moveTo>
                <a:lnTo>
                  <a:pt x="4121782" y="0"/>
                </a:lnTo>
                <a:lnTo>
                  <a:pt x="4121782" y="5338844"/>
                </a:lnTo>
                <a:lnTo>
                  <a:pt x="0" y="5338844"/>
                </a:lnTo>
                <a:lnTo>
                  <a:pt x="0" y="0"/>
                </a:lnTo>
                <a:close/>
              </a:path>
            </a:pathLst>
          </a:custGeom>
          <a:blipFill>
            <a:blip r:embed="rId5"/>
            <a:stretch>
              <a:fillRect l="0" t="0" r="0" b="0"/>
            </a:stretch>
          </a:blipFill>
        </p:spPr>
      </p:sp>
      <p:sp>
        <p:nvSpPr>
          <p:cNvPr name="TextBox 9" id="9"/>
          <p:cNvSpPr txBox="true"/>
          <p:nvPr/>
        </p:nvSpPr>
        <p:spPr>
          <a:xfrm rot="0">
            <a:off x="198765" y="1047750"/>
            <a:ext cx="10183074" cy="825881"/>
          </a:xfrm>
          <a:prstGeom prst="rect">
            <a:avLst/>
          </a:prstGeom>
        </p:spPr>
        <p:txBody>
          <a:bodyPr anchor="t" rtlCol="false" tIns="0" lIns="0" bIns="0" rIns="0">
            <a:spAutoFit/>
          </a:bodyPr>
          <a:lstStyle/>
          <a:p>
            <a:pPr algn="ctr">
              <a:lnSpc>
                <a:spcPts val="5992"/>
              </a:lnSpc>
            </a:pPr>
            <a:r>
              <a:rPr lang="en-US" sz="5600" b="true">
                <a:solidFill>
                  <a:srgbClr val="FFFFFF"/>
                </a:solidFill>
                <a:latin typeface="Poppins Bold"/>
                <a:ea typeface="Poppins Bold"/>
                <a:cs typeface="Poppins Bold"/>
                <a:sym typeface="Poppins Bold"/>
              </a:rPr>
              <a:t>THE LINKING PROBLEM</a:t>
            </a:r>
          </a:p>
        </p:txBody>
      </p:sp>
      <p:sp>
        <p:nvSpPr>
          <p:cNvPr name="TextBox 10" id="10"/>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7</a:t>
            </a:r>
          </a:p>
        </p:txBody>
      </p:sp>
      <p:pic>
        <p:nvPicPr>
          <p:cNvPr name="Picture 11" id="11"/>
          <p:cNvPicPr>
            <a:picLocks noChangeAspect="true"/>
          </p:cNvPicPr>
          <p:nvPr/>
        </p:nvPicPr>
        <p:blipFill>
          <a:blip r:embed="rId6"/>
          <a:stretch>
            <a:fillRect/>
          </a:stretch>
        </p:blipFill>
        <p:spPr>
          <a:xfrm rot="0">
            <a:off x="7658593" y="2061031"/>
            <a:ext cx="2970814" cy="1258335"/>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28700" y="3938813"/>
            <a:ext cx="9646153" cy="3209476"/>
            <a:chOff x="0" y="0"/>
            <a:chExt cx="1462571" cy="486628"/>
          </a:xfrm>
        </p:grpSpPr>
        <p:sp>
          <p:nvSpPr>
            <p:cNvPr name="Freeform 3" id="3"/>
            <p:cNvSpPr/>
            <p:nvPr/>
          </p:nvSpPr>
          <p:spPr>
            <a:xfrm flipH="false" flipV="false" rot="0">
              <a:off x="0" y="0"/>
              <a:ext cx="1462571" cy="486628"/>
            </a:xfrm>
            <a:custGeom>
              <a:avLst/>
              <a:gdLst/>
              <a:ahLst/>
              <a:cxnLst/>
              <a:rect r="r" b="b" t="t" l="l"/>
              <a:pathLst>
                <a:path h="486628" w="1462571">
                  <a:moveTo>
                    <a:pt x="16052" y="0"/>
                  </a:moveTo>
                  <a:lnTo>
                    <a:pt x="1446519" y="0"/>
                  </a:lnTo>
                  <a:cubicBezTo>
                    <a:pt x="1450776" y="0"/>
                    <a:pt x="1454859" y="1691"/>
                    <a:pt x="1457869" y="4701"/>
                  </a:cubicBezTo>
                  <a:cubicBezTo>
                    <a:pt x="1460880" y="7712"/>
                    <a:pt x="1462571" y="11795"/>
                    <a:pt x="1462571" y="16052"/>
                  </a:cubicBezTo>
                  <a:lnTo>
                    <a:pt x="1462571" y="470576"/>
                  </a:lnTo>
                  <a:cubicBezTo>
                    <a:pt x="1462571" y="479441"/>
                    <a:pt x="1455384" y="486628"/>
                    <a:pt x="1446519" y="486628"/>
                  </a:cubicBezTo>
                  <a:lnTo>
                    <a:pt x="16052" y="486628"/>
                  </a:lnTo>
                  <a:cubicBezTo>
                    <a:pt x="11795" y="486628"/>
                    <a:pt x="7712" y="484936"/>
                    <a:pt x="4701" y="481926"/>
                  </a:cubicBezTo>
                  <a:cubicBezTo>
                    <a:pt x="1691" y="478916"/>
                    <a:pt x="0" y="474833"/>
                    <a:pt x="0" y="470576"/>
                  </a:cubicBezTo>
                  <a:lnTo>
                    <a:pt x="0" y="16052"/>
                  </a:lnTo>
                  <a:cubicBezTo>
                    <a:pt x="0" y="11795"/>
                    <a:pt x="1691" y="7712"/>
                    <a:pt x="4701" y="4701"/>
                  </a:cubicBezTo>
                  <a:cubicBezTo>
                    <a:pt x="7712" y="1691"/>
                    <a:pt x="11795" y="0"/>
                    <a:pt x="1605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462571" cy="52472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6877" y="4473852"/>
            <a:ext cx="392041" cy="392041"/>
          </a:xfrm>
          <a:custGeom>
            <a:avLst/>
            <a:gdLst/>
            <a:ahLst/>
            <a:cxnLst/>
            <a:rect r="r" b="b" t="t" l="l"/>
            <a:pathLst>
              <a:path h="392041" w="392041">
                <a:moveTo>
                  <a:pt x="0" y="0"/>
                </a:moveTo>
                <a:lnTo>
                  <a:pt x="392041" y="0"/>
                </a:lnTo>
                <a:lnTo>
                  <a:pt x="392041" y="392041"/>
                </a:lnTo>
                <a:lnTo>
                  <a:pt x="0" y="392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184448" y="9324975"/>
            <a:ext cx="608679" cy="602564"/>
            <a:chOff x="0" y="0"/>
            <a:chExt cx="85797" cy="84935"/>
          </a:xfrm>
        </p:grpSpPr>
        <p:sp>
          <p:nvSpPr>
            <p:cNvPr name="Freeform 7" id="7"/>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247435" y="2137265"/>
            <a:ext cx="4756300" cy="6160719"/>
          </a:xfrm>
          <a:custGeom>
            <a:avLst/>
            <a:gdLst/>
            <a:ahLst/>
            <a:cxnLst/>
            <a:rect r="r" b="b" t="t" l="l"/>
            <a:pathLst>
              <a:path h="6160719" w="4756300">
                <a:moveTo>
                  <a:pt x="0" y="0"/>
                </a:moveTo>
                <a:lnTo>
                  <a:pt x="4756300" y="0"/>
                </a:lnTo>
                <a:lnTo>
                  <a:pt x="4756300" y="6160719"/>
                </a:lnTo>
                <a:lnTo>
                  <a:pt x="0" y="6160719"/>
                </a:lnTo>
                <a:lnTo>
                  <a:pt x="0" y="0"/>
                </a:lnTo>
                <a:close/>
              </a:path>
            </a:pathLst>
          </a:custGeom>
          <a:blipFill>
            <a:blip r:embed="rId4"/>
            <a:stretch>
              <a:fillRect l="0" t="0" r="0" b="0"/>
            </a:stretch>
          </a:blipFill>
        </p:spPr>
      </p:sp>
      <p:sp>
        <p:nvSpPr>
          <p:cNvPr name="TextBox 10" id="10"/>
          <p:cNvSpPr txBox="true"/>
          <p:nvPr/>
        </p:nvSpPr>
        <p:spPr>
          <a:xfrm rot="0">
            <a:off x="226964" y="1047750"/>
            <a:ext cx="10183074" cy="825881"/>
          </a:xfrm>
          <a:prstGeom prst="rect">
            <a:avLst/>
          </a:prstGeom>
        </p:spPr>
        <p:txBody>
          <a:bodyPr anchor="t" rtlCol="false" tIns="0" lIns="0" bIns="0" rIns="0">
            <a:spAutoFit/>
          </a:bodyPr>
          <a:lstStyle/>
          <a:p>
            <a:pPr algn="ctr">
              <a:lnSpc>
                <a:spcPts val="5992"/>
              </a:lnSpc>
            </a:pPr>
            <a:r>
              <a:rPr lang="en-US" sz="5600" b="true">
                <a:solidFill>
                  <a:srgbClr val="FFFFFF"/>
                </a:solidFill>
                <a:latin typeface="Poppins Bold"/>
                <a:ea typeface="Poppins Bold"/>
                <a:cs typeface="Poppins Bold"/>
                <a:sym typeface="Poppins Bold"/>
              </a:rPr>
              <a:t>Grid-basiertes Masking </a:t>
            </a:r>
          </a:p>
        </p:txBody>
      </p:sp>
      <p:sp>
        <p:nvSpPr>
          <p:cNvPr name="TextBox 11" id="11"/>
          <p:cNvSpPr txBox="true"/>
          <p:nvPr/>
        </p:nvSpPr>
        <p:spPr>
          <a:xfrm rot="0">
            <a:off x="2269822" y="4899932"/>
            <a:ext cx="7309940" cy="25685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U</a:t>
            </a:r>
            <a:r>
              <a:rPr lang="en-US" sz="2000">
                <a:solidFill>
                  <a:srgbClr val="FFFFFF"/>
                </a:solidFill>
                <a:latin typeface="Poppins"/>
                <a:ea typeface="Poppins"/>
                <a:cs typeface="Poppins"/>
                <a:sym typeface="Poppins"/>
              </a:rPr>
              <a:t>se the warped image and the grid coordinates to mask a specific table area</a:t>
            </a:r>
          </a:p>
          <a:p>
            <a:pPr algn="l">
              <a:lnSpc>
                <a:spcPts val="3400"/>
              </a:lnSpc>
            </a:pPr>
          </a:p>
          <a:p>
            <a:pPr algn="l">
              <a:lnSpc>
                <a:spcPts val="3400"/>
              </a:lnSpc>
            </a:pPr>
            <a:r>
              <a:rPr lang="en-US" sz="2000">
                <a:solidFill>
                  <a:srgbClr val="FFFFFF"/>
                </a:solidFill>
                <a:latin typeface="Poppins"/>
                <a:ea typeface="Poppins"/>
                <a:cs typeface="Poppins"/>
                <a:sym typeface="Poppins"/>
              </a:rPr>
              <a:t>Libraries: OpenCV, NumPy, Matplotlib, Pathlib.</a:t>
            </a:r>
          </a:p>
          <a:p>
            <a:pPr algn="l">
              <a:lnSpc>
                <a:spcPts val="3400"/>
              </a:lnSpc>
            </a:pPr>
          </a:p>
          <a:p>
            <a:pPr algn="l">
              <a:lnSpc>
                <a:spcPts val="3400"/>
              </a:lnSpc>
            </a:pPr>
          </a:p>
        </p:txBody>
      </p:sp>
      <p:sp>
        <p:nvSpPr>
          <p:cNvPr name="TextBox 12" id="12"/>
          <p:cNvSpPr txBox="true"/>
          <p:nvPr/>
        </p:nvSpPr>
        <p:spPr>
          <a:xfrm rot="0">
            <a:off x="2150368" y="4435752"/>
            <a:ext cx="6049810"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Questions and arrows detected correctly</a:t>
            </a:r>
          </a:p>
        </p:txBody>
      </p:sp>
      <p:sp>
        <p:nvSpPr>
          <p:cNvPr name="TextBox 13" id="13"/>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2440811" y="2564340"/>
            <a:ext cx="4743637" cy="6051819"/>
            <a:chOff x="0" y="0"/>
            <a:chExt cx="614147" cy="783514"/>
          </a:xfrm>
        </p:grpSpPr>
        <p:sp>
          <p:nvSpPr>
            <p:cNvPr name="Freeform 15" id="15"/>
            <p:cNvSpPr/>
            <p:nvPr/>
          </p:nvSpPr>
          <p:spPr>
            <a:xfrm flipH="false" flipV="false" rot="0">
              <a:off x="0" y="0"/>
              <a:ext cx="614147" cy="783514"/>
            </a:xfrm>
            <a:custGeom>
              <a:avLst/>
              <a:gdLst/>
              <a:ahLst/>
              <a:cxnLst/>
              <a:rect r="r" b="b" t="t" l="l"/>
              <a:pathLst>
                <a:path h="783514" w="614147">
                  <a:moveTo>
                    <a:pt x="37537" y="0"/>
                  </a:moveTo>
                  <a:lnTo>
                    <a:pt x="576610" y="0"/>
                  </a:lnTo>
                  <a:cubicBezTo>
                    <a:pt x="597341" y="0"/>
                    <a:pt x="614147" y="16806"/>
                    <a:pt x="614147" y="37537"/>
                  </a:cubicBezTo>
                  <a:lnTo>
                    <a:pt x="614147" y="745977"/>
                  </a:lnTo>
                  <a:cubicBezTo>
                    <a:pt x="614147" y="755933"/>
                    <a:pt x="610193" y="765480"/>
                    <a:pt x="603153" y="772520"/>
                  </a:cubicBezTo>
                  <a:cubicBezTo>
                    <a:pt x="596113" y="779560"/>
                    <a:pt x="586565" y="783514"/>
                    <a:pt x="576610" y="783514"/>
                  </a:cubicBezTo>
                  <a:lnTo>
                    <a:pt x="37537" y="783514"/>
                  </a:lnTo>
                  <a:cubicBezTo>
                    <a:pt x="16806" y="783514"/>
                    <a:pt x="0" y="766708"/>
                    <a:pt x="0" y="745977"/>
                  </a:cubicBezTo>
                  <a:lnTo>
                    <a:pt x="0" y="37537"/>
                  </a:lnTo>
                  <a:cubicBezTo>
                    <a:pt x="0" y="16806"/>
                    <a:pt x="16806" y="0"/>
                    <a:pt x="37537" y="0"/>
                  </a:cubicBezTo>
                  <a:close/>
                </a:path>
              </a:pathLst>
            </a:custGeom>
            <a:blipFill>
              <a:blip r:embed="rId6"/>
              <a:stretch>
                <a:fillRect l="0" t="-1038" r="0" b="-1038"/>
              </a:stretch>
            </a:blipFill>
          </p:spPr>
        </p:sp>
      </p:grpSp>
      <p:grpSp>
        <p:nvGrpSpPr>
          <p:cNvPr name="Group 16" id="16"/>
          <p:cNvGrpSpPr/>
          <p:nvPr/>
        </p:nvGrpSpPr>
        <p:grpSpPr>
          <a:xfrm rot="0">
            <a:off x="17184448" y="9324975"/>
            <a:ext cx="608679" cy="602564"/>
            <a:chOff x="0" y="0"/>
            <a:chExt cx="85797" cy="84935"/>
          </a:xfrm>
        </p:grpSpPr>
        <p:sp>
          <p:nvSpPr>
            <p:cNvPr name="Freeform 17" id="17"/>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8" id="18"/>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455322" y="1352270"/>
            <a:ext cx="9329829"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Detected Questions Cell</a:t>
            </a:r>
          </a:p>
        </p:txBody>
      </p:sp>
      <p:sp>
        <p:nvSpPr>
          <p:cNvPr name="TextBox 20" id="20"/>
          <p:cNvSpPr txBox="true"/>
          <p:nvPr/>
        </p:nvSpPr>
        <p:spPr>
          <a:xfrm rot="0">
            <a:off x="2289800" y="3560945"/>
            <a:ext cx="8203160" cy="171132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The</a:t>
            </a:r>
            <a:r>
              <a:rPr lang="en-US" sz="2000">
                <a:solidFill>
                  <a:srgbClr val="FFFFFF"/>
                </a:solidFill>
                <a:latin typeface="Poppins"/>
                <a:ea typeface="Poppins"/>
                <a:cs typeface="Poppins"/>
                <a:sym typeface="Poppins"/>
              </a:rPr>
              <a:t> page is split into individual grid cells using the detected row and column coordinates.</a:t>
            </a:r>
          </a:p>
          <a:p>
            <a:pPr algn="just">
              <a:lnSpc>
                <a:spcPts val="3400"/>
              </a:lnSpc>
            </a:pPr>
          </a:p>
          <a:p>
            <a:pPr algn="just">
              <a:lnSpc>
                <a:spcPts val="3400"/>
              </a:lnSpc>
            </a:pPr>
          </a:p>
        </p:txBody>
      </p:sp>
      <p:sp>
        <p:nvSpPr>
          <p:cNvPr name="TextBox 21" id="21"/>
          <p:cNvSpPr txBox="true"/>
          <p:nvPr/>
        </p:nvSpPr>
        <p:spPr>
          <a:xfrm rot="0">
            <a:off x="2289800" y="3149331"/>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Divide the page into cells</a:t>
            </a:r>
          </a:p>
        </p:txBody>
      </p:sp>
      <p:sp>
        <p:nvSpPr>
          <p:cNvPr name="TextBox 22" id="22"/>
          <p:cNvSpPr txBox="true"/>
          <p:nvPr/>
        </p:nvSpPr>
        <p:spPr>
          <a:xfrm rot="0">
            <a:off x="2289800" y="5793901"/>
            <a:ext cx="8203160"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F</a:t>
            </a:r>
            <a:r>
              <a:rPr lang="en-US" sz="2000">
                <a:solidFill>
                  <a:srgbClr val="FFFFFF"/>
                </a:solidFill>
                <a:latin typeface="Poppins"/>
                <a:ea typeface="Poppins"/>
                <a:cs typeface="Poppins"/>
                <a:sym typeface="Poppins"/>
              </a:rPr>
              <a:t>or each cell, the amount of ink is measured by calculating the ratio of black pixels using OpenCV and NumPy.</a:t>
            </a:r>
          </a:p>
        </p:txBody>
      </p:sp>
      <p:sp>
        <p:nvSpPr>
          <p:cNvPr name="TextBox 23" id="23"/>
          <p:cNvSpPr txBox="true"/>
          <p:nvPr/>
        </p:nvSpPr>
        <p:spPr>
          <a:xfrm rot="0">
            <a:off x="2289800" y="5382287"/>
            <a:ext cx="6536763"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Measure ink amount (text density)</a:t>
            </a:r>
          </a:p>
        </p:txBody>
      </p:sp>
      <p:sp>
        <p:nvSpPr>
          <p:cNvPr name="TextBox 24" id="24"/>
          <p:cNvSpPr txBox="true"/>
          <p:nvPr/>
        </p:nvSpPr>
        <p:spPr>
          <a:xfrm rot="0">
            <a:off x="2255076" y="8023594"/>
            <a:ext cx="8203160"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If th</a:t>
            </a:r>
            <a:r>
              <a:rPr lang="en-US" sz="2000">
                <a:solidFill>
                  <a:srgbClr val="FFFFFF"/>
                </a:solidFill>
                <a:latin typeface="Poppins"/>
                <a:ea typeface="Poppins"/>
                <a:cs typeface="Poppins"/>
                <a:sym typeface="Poppins"/>
              </a:rPr>
              <a:t>e ink is higher than a defined threshold, the cell is marked as a text cell; otherwise, it is considered empty.</a:t>
            </a:r>
          </a:p>
        </p:txBody>
      </p:sp>
      <p:sp>
        <p:nvSpPr>
          <p:cNvPr name="TextBox 25" id="25"/>
          <p:cNvSpPr txBox="true"/>
          <p:nvPr/>
        </p:nvSpPr>
        <p:spPr>
          <a:xfrm rot="0">
            <a:off x="2255076" y="7611980"/>
            <a:ext cx="6571486"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Decide using a threshold</a:t>
            </a:r>
          </a:p>
        </p:txBody>
      </p:sp>
      <p:sp>
        <p:nvSpPr>
          <p:cNvPr name="TextBox 26" id="26"/>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4037306"/>
            <a:ext cx="9839089" cy="2884441"/>
            <a:chOff x="0" y="0"/>
            <a:chExt cx="1386874" cy="406578"/>
          </a:xfrm>
        </p:grpSpPr>
        <p:sp>
          <p:nvSpPr>
            <p:cNvPr name="Freeform 3" id="3"/>
            <p:cNvSpPr/>
            <p:nvPr/>
          </p:nvSpPr>
          <p:spPr>
            <a:xfrm flipH="false" flipV="false" rot="0">
              <a:off x="0" y="0"/>
              <a:ext cx="1386874" cy="406578"/>
            </a:xfrm>
            <a:custGeom>
              <a:avLst/>
              <a:gdLst/>
              <a:ahLst/>
              <a:cxnLst/>
              <a:rect r="r" b="b" t="t" l="l"/>
              <a:pathLst>
                <a:path h="406578" w="1386874">
                  <a:moveTo>
                    <a:pt x="15737" y="0"/>
                  </a:moveTo>
                  <a:lnTo>
                    <a:pt x="1371137" y="0"/>
                  </a:lnTo>
                  <a:cubicBezTo>
                    <a:pt x="1375311" y="0"/>
                    <a:pt x="1379313" y="1658"/>
                    <a:pt x="1382265" y="4609"/>
                  </a:cubicBezTo>
                  <a:cubicBezTo>
                    <a:pt x="1385216" y="7561"/>
                    <a:pt x="1386874" y="11563"/>
                    <a:pt x="1386874" y="15737"/>
                  </a:cubicBezTo>
                  <a:lnTo>
                    <a:pt x="1386874" y="390841"/>
                  </a:lnTo>
                  <a:cubicBezTo>
                    <a:pt x="1386874" y="399532"/>
                    <a:pt x="1379828" y="406578"/>
                    <a:pt x="1371137" y="406578"/>
                  </a:cubicBezTo>
                  <a:lnTo>
                    <a:pt x="15737" y="406578"/>
                  </a:lnTo>
                  <a:cubicBezTo>
                    <a:pt x="11563" y="406578"/>
                    <a:pt x="7561" y="404920"/>
                    <a:pt x="4609" y="401969"/>
                  </a:cubicBezTo>
                  <a:cubicBezTo>
                    <a:pt x="1658" y="399017"/>
                    <a:pt x="0" y="395015"/>
                    <a:pt x="0" y="390841"/>
                  </a:cubicBezTo>
                  <a:lnTo>
                    <a:pt x="0" y="15737"/>
                  </a:lnTo>
                  <a:cubicBezTo>
                    <a:pt x="0" y="11563"/>
                    <a:pt x="1658" y="7561"/>
                    <a:pt x="4609" y="4609"/>
                  </a:cubicBezTo>
                  <a:cubicBezTo>
                    <a:pt x="7561" y="1658"/>
                    <a:pt x="11563" y="0"/>
                    <a:pt x="1573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86874" cy="44467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4358181"/>
            <a:ext cx="440189" cy="440189"/>
          </a:xfrm>
          <a:custGeom>
            <a:avLst/>
            <a:gdLst/>
            <a:ahLst/>
            <a:cxnLst/>
            <a:rect r="r" b="b" t="t" l="l"/>
            <a:pathLst>
              <a:path h="440189" w="440189">
                <a:moveTo>
                  <a:pt x="0" y="0"/>
                </a:moveTo>
                <a:lnTo>
                  <a:pt x="440189" y="0"/>
                </a:lnTo>
                <a:lnTo>
                  <a:pt x="440189" y="440188"/>
                </a:lnTo>
                <a:lnTo>
                  <a:pt x="0" y="440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460522" y="2489390"/>
            <a:ext cx="4723927" cy="6026672"/>
            <a:chOff x="0" y="0"/>
            <a:chExt cx="614147" cy="783514"/>
          </a:xfrm>
        </p:grpSpPr>
        <p:sp>
          <p:nvSpPr>
            <p:cNvPr name="Freeform 7" id="7"/>
            <p:cNvSpPr/>
            <p:nvPr/>
          </p:nvSpPr>
          <p:spPr>
            <a:xfrm flipH="false" flipV="false" rot="0">
              <a:off x="0" y="0"/>
              <a:ext cx="614147" cy="783514"/>
            </a:xfrm>
            <a:custGeom>
              <a:avLst/>
              <a:gdLst/>
              <a:ahLst/>
              <a:cxnLst/>
              <a:rect r="r" b="b" t="t" l="l"/>
              <a:pathLst>
                <a:path h="783514" w="614147">
                  <a:moveTo>
                    <a:pt x="37694" y="0"/>
                  </a:moveTo>
                  <a:lnTo>
                    <a:pt x="576453" y="0"/>
                  </a:lnTo>
                  <a:cubicBezTo>
                    <a:pt x="597271" y="0"/>
                    <a:pt x="614147" y="16876"/>
                    <a:pt x="614147" y="37694"/>
                  </a:cubicBezTo>
                  <a:lnTo>
                    <a:pt x="614147" y="745820"/>
                  </a:lnTo>
                  <a:cubicBezTo>
                    <a:pt x="614147" y="766638"/>
                    <a:pt x="597271" y="783514"/>
                    <a:pt x="576453" y="783514"/>
                  </a:cubicBezTo>
                  <a:lnTo>
                    <a:pt x="37694" y="783514"/>
                  </a:lnTo>
                  <a:cubicBezTo>
                    <a:pt x="16876" y="783514"/>
                    <a:pt x="0" y="766638"/>
                    <a:pt x="0" y="745820"/>
                  </a:cubicBezTo>
                  <a:lnTo>
                    <a:pt x="0" y="37694"/>
                  </a:lnTo>
                  <a:cubicBezTo>
                    <a:pt x="0" y="16876"/>
                    <a:pt x="16876" y="0"/>
                    <a:pt x="37694" y="0"/>
                  </a:cubicBezTo>
                  <a:close/>
                </a:path>
              </a:pathLst>
            </a:custGeom>
            <a:blipFill>
              <a:blip r:embed="rId4"/>
              <a:stretch>
                <a:fillRect l="0" t="-360" r="0" b="-360"/>
              </a:stretch>
            </a:blipFill>
          </p:spPr>
        </p:sp>
      </p:grpSp>
      <p:grpSp>
        <p:nvGrpSpPr>
          <p:cNvPr name="Group 8" id="8"/>
          <p:cNvGrpSpPr/>
          <p:nvPr/>
        </p:nvGrpSpPr>
        <p:grpSpPr>
          <a:xfrm rot="0">
            <a:off x="17184448" y="9324975"/>
            <a:ext cx="608679" cy="602564"/>
            <a:chOff x="0" y="0"/>
            <a:chExt cx="85797" cy="84935"/>
          </a:xfrm>
        </p:grpSpPr>
        <p:sp>
          <p:nvSpPr>
            <p:cNvPr name="Freeform 9" id="9"/>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0" id="10"/>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1st stage Detected Arrows </a:t>
            </a:r>
          </a:p>
        </p:txBody>
      </p:sp>
      <p:sp>
        <p:nvSpPr>
          <p:cNvPr name="TextBox 12" id="12"/>
          <p:cNvSpPr txBox="true"/>
          <p:nvPr/>
        </p:nvSpPr>
        <p:spPr>
          <a:xfrm rot="0">
            <a:off x="2289800" y="4867651"/>
            <a:ext cx="8203160" cy="171132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The code scans al</a:t>
            </a:r>
            <a:r>
              <a:rPr lang="en-US" sz="2000">
                <a:solidFill>
                  <a:srgbClr val="FFFFFF"/>
                </a:solidFill>
                <a:latin typeface="Poppins"/>
                <a:ea typeface="Poppins"/>
                <a:cs typeface="Poppins"/>
                <a:sym typeface="Poppins"/>
              </a:rPr>
              <a:t>l table cells except text cells, removes noise, measures the ink amount, and uses template matching to  detect the locations of large arrows, preparing for small arrow detection in the next stage.</a:t>
            </a:r>
          </a:p>
        </p:txBody>
      </p:sp>
      <p:sp>
        <p:nvSpPr>
          <p:cNvPr name="TextBox 13" id="13"/>
          <p:cNvSpPr txBox="true"/>
          <p:nvPr/>
        </p:nvSpPr>
        <p:spPr>
          <a:xfrm rot="0">
            <a:off x="2289800" y="4360787"/>
            <a:ext cx="6874027" cy="391795"/>
          </a:xfrm>
          <a:prstGeom prst="rect">
            <a:avLst/>
          </a:prstGeom>
        </p:spPr>
        <p:txBody>
          <a:bodyPr anchor="t" rtlCol="false" tIns="0" lIns="0" bIns="0" rIns="0">
            <a:spAutoFit/>
          </a:bodyPr>
          <a:lstStyle/>
          <a:p>
            <a:pPr algn="l">
              <a:lnSpc>
                <a:spcPts val="3079"/>
              </a:lnSpc>
              <a:spcBef>
                <a:spcPct val="0"/>
              </a:spcBef>
            </a:pPr>
            <a:r>
              <a:rPr lang="en-US" b="true" sz="2199">
                <a:solidFill>
                  <a:srgbClr val="FFFFFF"/>
                </a:solidFill>
                <a:latin typeface="Poppins Bold"/>
                <a:ea typeface="Poppins Bold"/>
                <a:cs typeface="Poppins Bold"/>
                <a:sym typeface="Poppins Bold"/>
              </a:rPr>
              <a:t>Large Arrow Detected</a:t>
            </a:r>
          </a:p>
        </p:txBody>
      </p:sp>
      <p:sp>
        <p:nvSpPr>
          <p:cNvPr name="TextBox 14" id="1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1097" y="1977471"/>
            <a:ext cx="6125805" cy="7815155"/>
            <a:chOff x="0" y="0"/>
            <a:chExt cx="614147" cy="783514"/>
          </a:xfrm>
        </p:grpSpPr>
        <p:sp>
          <p:nvSpPr>
            <p:cNvPr name="Freeform 3" id="3"/>
            <p:cNvSpPr/>
            <p:nvPr/>
          </p:nvSpPr>
          <p:spPr>
            <a:xfrm flipH="false" flipV="false" rot="0">
              <a:off x="0" y="0"/>
              <a:ext cx="614147" cy="783514"/>
            </a:xfrm>
            <a:custGeom>
              <a:avLst/>
              <a:gdLst/>
              <a:ahLst/>
              <a:cxnLst/>
              <a:rect r="r" b="b" t="t" l="l"/>
              <a:pathLst>
                <a:path h="783514" w="614147">
                  <a:moveTo>
                    <a:pt x="29068" y="0"/>
                  </a:moveTo>
                  <a:lnTo>
                    <a:pt x="585079" y="0"/>
                  </a:lnTo>
                  <a:cubicBezTo>
                    <a:pt x="601133" y="0"/>
                    <a:pt x="614147" y="13014"/>
                    <a:pt x="614147" y="29068"/>
                  </a:cubicBezTo>
                  <a:lnTo>
                    <a:pt x="614147" y="754447"/>
                  </a:lnTo>
                  <a:cubicBezTo>
                    <a:pt x="614147" y="762156"/>
                    <a:pt x="611085" y="769549"/>
                    <a:pt x="605634" y="775001"/>
                  </a:cubicBezTo>
                  <a:cubicBezTo>
                    <a:pt x="600182" y="780452"/>
                    <a:pt x="592789" y="783514"/>
                    <a:pt x="585079" y="783514"/>
                  </a:cubicBezTo>
                  <a:lnTo>
                    <a:pt x="29068" y="783514"/>
                  </a:lnTo>
                  <a:cubicBezTo>
                    <a:pt x="13014" y="783514"/>
                    <a:pt x="0" y="770500"/>
                    <a:pt x="0" y="754447"/>
                  </a:cubicBezTo>
                  <a:lnTo>
                    <a:pt x="0" y="29068"/>
                  </a:lnTo>
                  <a:cubicBezTo>
                    <a:pt x="0" y="13014"/>
                    <a:pt x="13014" y="0"/>
                    <a:pt x="29068" y="0"/>
                  </a:cubicBezTo>
                  <a:close/>
                </a:path>
              </a:pathLst>
            </a:custGeom>
            <a:blipFill>
              <a:blip r:embed="rId2"/>
              <a:stretch>
                <a:fillRect l="0" t="-360" r="0" b="-360"/>
              </a:stretch>
            </a:blipFill>
          </p:spPr>
        </p:sp>
      </p:grpSp>
      <p:grpSp>
        <p:nvGrpSpPr>
          <p:cNvPr name="Group 4" id="4"/>
          <p:cNvGrpSpPr/>
          <p:nvPr/>
        </p:nvGrpSpPr>
        <p:grpSpPr>
          <a:xfrm rot="0">
            <a:off x="17184448" y="9324975"/>
            <a:ext cx="608679" cy="602564"/>
            <a:chOff x="0" y="0"/>
            <a:chExt cx="85797" cy="84935"/>
          </a:xfrm>
        </p:grpSpPr>
        <p:sp>
          <p:nvSpPr>
            <p:cNvPr name="Freeform 5" id="5"/>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6" id="6"/>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4479085" y="625285"/>
            <a:ext cx="9329829"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Large Arrows  direction</a:t>
            </a:r>
          </a:p>
        </p:txBody>
      </p:sp>
      <p:sp>
        <p:nvSpPr>
          <p:cNvPr name="TextBox 8" id="8"/>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3698888"/>
            <a:ext cx="9329829" cy="2808074"/>
            <a:chOff x="0" y="0"/>
            <a:chExt cx="1315091" cy="395814"/>
          </a:xfrm>
        </p:grpSpPr>
        <p:sp>
          <p:nvSpPr>
            <p:cNvPr name="Freeform 3" id="3"/>
            <p:cNvSpPr/>
            <p:nvPr/>
          </p:nvSpPr>
          <p:spPr>
            <a:xfrm flipH="false" flipV="false" rot="0">
              <a:off x="0" y="0"/>
              <a:ext cx="1315091" cy="395814"/>
            </a:xfrm>
            <a:custGeom>
              <a:avLst/>
              <a:gdLst/>
              <a:ahLst/>
              <a:cxnLst/>
              <a:rect r="r" b="b" t="t" l="l"/>
              <a:pathLst>
                <a:path h="395814" w="1315091">
                  <a:moveTo>
                    <a:pt x="16596" y="0"/>
                  </a:moveTo>
                  <a:lnTo>
                    <a:pt x="1298495" y="0"/>
                  </a:lnTo>
                  <a:cubicBezTo>
                    <a:pt x="1307661" y="0"/>
                    <a:pt x="1315091" y="7430"/>
                    <a:pt x="1315091" y="16596"/>
                  </a:cubicBezTo>
                  <a:lnTo>
                    <a:pt x="1315091" y="379217"/>
                  </a:lnTo>
                  <a:cubicBezTo>
                    <a:pt x="1315091" y="383619"/>
                    <a:pt x="1313342" y="387840"/>
                    <a:pt x="1310230" y="390953"/>
                  </a:cubicBezTo>
                  <a:cubicBezTo>
                    <a:pt x="1307118" y="394065"/>
                    <a:pt x="1302896" y="395814"/>
                    <a:pt x="1298495" y="395814"/>
                  </a:cubicBezTo>
                  <a:lnTo>
                    <a:pt x="16596" y="395814"/>
                  </a:lnTo>
                  <a:cubicBezTo>
                    <a:pt x="12195" y="395814"/>
                    <a:pt x="7973" y="394065"/>
                    <a:pt x="4861" y="390953"/>
                  </a:cubicBezTo>
                  <a:cubicBezTo>
                    <a:pt x="1749" y="387840"/>
                    <a:pt x="0" y="383619"/>
                    <a:pt x="0" y="379217"/>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43391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4019762"/>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535200" y="2814482"/>
            <a:ext cx="4649249" cy="5931400"/>
            <a:chOff x="0" y="0"/>
            <a:chExt cx="614147" cy="783514"/>
          </a:xfrm>
        </p:grpSpPr>
        <p:sp>
          <p:nvSpPr>
            <p:cNvPr name="Freeform 7" id="7"/>
            <p:cNvSpPr/>
            <p:nvPr/>
          </p:nvSpPr>
          <p:spPr>
            <a:xfrm flipH="false" flipV="false" rot="0">
              <a:off x="0" y="0"/>
              <a:ext cx="614147" cy="783514"/>
            </a:xfrm>
            <a:custGeom>
              <a:avLst/>
              <a:gdLst/>
              <a:ahLst/>
              <a:cxnLst/>
              <a:rect r="r" b="b" t="t" l="l"/>
              <a:pathLst>
                <a:path h="783514" w="614147">
                  <a:moveTo>
                    <a:pt x="38300" y="0"/>
                  </a:moveTo>
                  <a:lnTo>
                    <a:pt x="575848" y="0"/>
                  </a:lnTo>
                  <a:cubicBezTo>
                    <a:pt x="586005" y="0"/>
                    <a:pt x="595747" y="4035"/>
                    <a:pt x="602930" y="11218"/>
                  </a:cubicBezTo>
                  <a:cubicBezTo>
                    <a:pt x="610112" y="18400"/>
                    <a:pt x="614147" y="28142"/>
                    <a:pt x="614147" y="38300"/>
                  </a:cubicBezTo>
                  <a:lnTo>
                    <a:pt x="614147" y="745215"/>
                  </a:lnTo>
                  <a:cubicBezTo>
                    <a:pt x="614147" y="755373"/>
                    <a:pt x="610112" y="765114"/>
                    <a:pt x="602930" y="772297"/>
                  </a:cubicBezTo>
                  <a:cubicBezTo>
                    <a:pt x="595747" y="779479"/>
                    <a:pt x="586005" y="783514"/>
                    <a:pt x="575848" y="783514"/>
                  </a:cubicBezTo>
                  <a:lnTo>
                    <a:pt x="38300" y="783514"/>
                  </a:lnTo>
                  <a:cubicBezTo>
                    <a:pt x="17147" y="783514"/>
                    <a:pt x="0" y="766367"/>
                    <a:pt x="0" y="745215"/>
                  </a:cubicBezTo>
                  <a:lnTo>
                    <a:pt x="0" y="38300"/>
                  </a:lnTo>
                  <a:cubicBezTo>
                    <a:pt x="0" y="28142"/>
                    <a:pt x="4035" y="18400"/>
                    <a:pt x="11218" y="11218"/>
                  </a:cubicBezTo>
                  <a:cubicBezTo>
                    <a:pt x="18400" y="4035"/>
                    <a:pt x="28142" y="0"/>
                    <a:pt x="38300" y="0"/>
                  </a:cubicBezTo>
                  <a:close/>
                </a:path>
              </a:pathLst>
            </a:custGeom>
            <a:blipFill>
              <a:blip r:embed="rId4"/>
              <a:stretch>
                <a:fillRect l="0" t="-360" r="0" b="-360"/>
              </a:stretch>
            </a:blipFill>
          </p:spPr>
        </p:sp>
      </p:grpSp>
      <p:grpSp>
        <p:nvGrpSpPr>
          <p:cNvPr name="Group 8" id="8"/>
          <p:cNvGrpSpPr/>
          <p:nvPr/>
        </p:nvGrpSpPr>
        <p:grpSpPr>
          <a:xfrm rot="0">
            <a:off x="17184448" y="9324975"/>
            <a:ext cx="608679" cy="602564"/>
            <a:chOff x="0" y="0"/>
            <a:chExt cx="85797" cy="84935"/>
          </a:xfrm>
        </p:grpSpPr>
        <p:sp>
          <p:nvSpPr>
            <p:cNvPr name="Freeform 9" id="9"/>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0" id="10"/>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2nd Stage Detected Arrows </a:t>
            </a:r>
          </a:p>
        </p:txBody>
      </p:sp>
      <p:sp>
        <p:nvSpPr>
          <p:cNvPr name="TextBox 12" id="12"/>
          <p:cNvSpPr txBox="true"/>
          <p:nvPr/>
        </p:nvSpPr>
        <p:spPr>
          <a:xfrm rot="0">
            <a:off x="2289800" y="4433982"/>
            <a:ext cx="8203160" cy="25685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The code scans al</a:t>
            </a:r>
            <a:r>
              <a:rPr lang="en-US" sz="2000">
                <a:solidFill>
                  <a:srgbClr val="FFFFFF"/>
                </a:solidFill>
                <a:latin typeface="Poppins"/>
                <a:ea typeface="Poppins"/>
                <a:cs typeface="Poppins"/>
                <a:sym typeface="Poppins"/>
              </a:rPr>
              <a:t>l table cells except text cells and previously detected large arrows, measures the ink amount, and uses template matching to detect small arrow heads and determine their direction.</a:t>
            </a:r>
          </a:p>
          <a:p>
            <a:pPr algn="just">
              <a:lnSpc>
                <a:spcPts val="3400"/>
              </a:lnSpc>
            </a:pPr>
          </a:p>
          <a:p>
            <a:pPr algn="just">
              <a:lnSpc>
                <a:spcPts val="3400"/>
              </a:lnSpc>
            </a:pPr>
          </a:p>
        </p:txBody>
      </p:sp>
      <p:sp>
        <p:nvSpPr>
          <p:cNvPr name="TextBox 13" id="13"/>
          <p:cNvSpPr txBox="true"/>
          <p:nvPr/>
        </p:nvSpPr>
        <p:spPr>
          <a:xfrm rot="0">
            <a:off x="2289800" y="4022369"/>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Small Arrow Detection</a:t>
            </a:r>
          </a:p>
        </p:txBody>
      </p:sp>
      <p:sp>
        <p:nvSpPr>
          <p:cNvPr name="TextBox 14" id="1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81097" y="1826659"/>
            <a:ext cx="6125805" cy="7815155"/>
            <a:chOff x="0" y="0"/>
            <a:chExt cx="614147" cy="783514"/>
          </a:xfrm>
        </p:grpSpPr>
        <p:sp>
          <p:nvSpPr>
            <p:cNvPr name="Freeform 3" id="3"/>
            <p:cNvSpPr/>
            <p:nvPr/>
          </p:nvSpPr>
          <p:spPr>
            <a:xfrm flipH="false" flipV="false" rot="0">
              <a:off x="0" y="0"/>
              <a:ext cx="614147" cy="783514"/>
            </a:xfrm>
            <a:custGeom>
              <a:avLst/>
              <a:gdLst/>
              <a:ahLst/>
              <a:cxnLst/>
              <a:rect r="r" b="b" t="t" l="l"/>
              <a:pathLst>
                <a:path h="783514" w="614147">
                  <a:moveTo>
                    <a:pt x="29068" y="0"/>
                  </a:moveTo>
                  <a:lnTo>
                    <a:pt x="585079" y="0"/>
                  </a:lnTo>
                  <a:cubicBezTo>
                    <a:pt x="601133" y="0"/>
                    <a:pt x="614147" y="13014"/>
                    <a:pt x="614147" y="29068"/>
                  </a:cubicBezTo>
                  <a:lnTo>
                    <a:pt x="614147" y="754447"/>
                  </a:lnTo>
                  <a:cubicBezTo>
                    <a:pt x="614147" y="762156"/>
                    <a:pt x="611085" y="769549"/>
                    <a:pt x="605634" y="775001"/>
                  </a:cubicBezTo>
                  <a:cubicBezTo>
                    <a:pt x="600182" y="780452"/>
                    <a:pt x="592789" y="783514"/>
                    <a:pt x="585079" y="783514"/>
                  </a:cubicBezTo>
                  <a:lnTo>
                    <a:pt x="29068" y="783514"/>
                  </a:lnTo>
                  <a:cubicBezTo>
                    <a:pt x="13014" y="783514"/>
                    <a:pt x="0" y="770500"/>
                    <a:pt x="0" y="754447"/>
                  </a:cubicBezTo>
                  <a:lnTo>
                    <a:pt x="0" y="29068"/>
                  </a:lnTo>
                  <a:cubicBezTo>
                    <a:pt x="0" y="13014"/>
                    <a:pt x="13014" y="0"/>
                    <a:pt x="29068" y="0"/>
                  </a:cubicBezTo>
                  <a:close/>
                </a:path>
              </a:pathLst>
            </a:custGeom>
            <a:blipFill>
              <a:blip r:embed="rId2"/>
              <a:stretch>
                <a:fillRect l="0" t="-245" r="0" b="-245"/>
              </a:stretch>
            </a:blipFill>
          </p:spPr>
        </p:sp>
      </p:grpSp>
      <p:grpSp>
        <p:nvGrpSpPr>
          <p:cNvPr name="Group 4" id="4"/>
          <p:cNvGrpSpPr/>
          <p:nvPr/>
        </p:nvGrpSpPr>
        <p:grpSpPr>
          <a:xfrm rot="0">
            <a:off x="17184448" y="9324975"/>
            <a:ext cx="608679" cy="602564"/>
            <a:chOff x="0" y="0"/>
            <a:chExt cx="85797" cy="84935"/>
          </a:xfrm>
        </p:grpSpPr>
        <p:sp>
          <p:nvSpPr>
            <p:cNvPr name="Freeform 5" id="5"/>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6" id="6"/>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4479085" y="625285"/>
            <a:ext cx="9329829"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Detected Arrows </a:t>
            </a:r>
          </a:p>
        </p:txBody>
      </p:sp>
      <p:sp>
        <p:nvSpPr>
          <p:cNvPr name="TextBox 8" id="8"/>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455322" y="1047750"/>
            <a:ext cx="9329829"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THE LINKING PROBLEM</a:t>
            </a:r>
          </a:p>
        </p:txBody>
      </p:sp>
      <p:sp>
        <p:nvSpPr>
          <p:cNvPr name="TextBox 15" id="15"/>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Individua</a:t>
            </a:r>
            <a:r>
              <a:rPr lang="en-US" sz="2000">
                <a:solidFill>
                  <a:srgbClr val="FFFFFF"/>
                </a:solidFill>
                <a:latin typeface="Poppins"/>
                <a:ea typeface="Poppins"/>
                <a:cs typeface="Poppins"/>
                <a:sym typeface="Poppins"/>
              </a:rPr>
              <a:t>l detection stages produced accurate question cells and correct arrow directions across the grid.</a:t>
            </a:r>
          </a:p>
        </p:txBody>
      </p:sp>
      <p:sp>
        <p:nvSpPr>
          <p:cNvPr name="TextBox 16" id="16"/>
          <p:cNvSpPr txBox="true"/>
          <p:nvPr/>
        </p:nvSpPr>
        <p:spPr>
          <a:xfrm rot="0">
            <a:off x="2289800" y="3149331"/>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Questions and arrows detected correctly</a:t>
            </a:r>
          </a:p>
        </p:txBody>
      </p:sp>
      <p:sp>
        <p:nvSpPr>
          <p:cNvPr name="TextBox 17" id="17"/>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Co</a:t>
            </a:r>
            <a:r>
              <a:rPr lang="en-US" sz="2000">
                <a:solidFill>
                  <a:srgbClr val="FFFFFF"/>
                </a:solidFill>
                <a:latin typeface="Poppins"/>
                <a:ea typeface="Poppins"/>
                <a:cs typeface="Poppins"/>
                <a:sym typeface="Poppins"/>
              </a:rPr>
              <a:t>rrect detection of questions and arrows alone did not guarantee correct question–answer associations.</a:t>
            </a:r>
          </a:p>
        </p:txBody>
      </p:sp>
      <p:sp>
        <p:nvSpPr>
          <p:cNvPr name="TextBox 18" id="18"/>
          <p:cNvSpPr txBox="true"/>
          <p:nvPr/>
        </p:nvSpPr>
        <p:spPr>
          <a:xfrm rot="0">
            <a:off x="2289800" y="5382287"/>
            <a:ext cx="6536763"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Linking between them still unreliable</a:t>
            </a:r>
          </a:p>
        </p:txBody>
      </p:sp>
      <p:sp>
        <p:nvSpPr>
          <p:cNvPr name="TextBox 19" id="19"/>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Multipl</a:t>
            </a:r>
            <a:r>
              <a:rPr lang="en-US" sz="2000">
                <a:solidFill>
                  <a:srgbClr val="FFFFFF"/>
                </a:solidFill>
                <a:latin typeface="Poppins"/>
                <a:ea typeface="Poppins"/>
                <a:cs typeface="Poppins"/>
                <a:sym typeface="Poppins"/>
              </a:rPr>
              <a:t>e valid-looking relations exist inside the grid without explicit structural rules defining the correct linkage.</a:t>
            </a:r>
          </a:p>
        </p:txBody>
      </p:sp>
      <p:sp>
        <p:nvSpPr>
          <p:cNvPr name="TextBox 20" id="20"/>
          <p:cNvSpPr txBox="true"/>
          <p:nvPr/>
        </p:nvSpPr>
        <p:spPr>
          <a:xfrm rot="0">
            <a:off x="2255076" y="7611980"/>
            <a:ext cx="6571486"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Core challenge: structural ambiguity</a:t>
            </a:r>
          </a:p>
        </p:txBody>
      </p:sp>
      <p:grpSp>
        <p:nvGrpSpPr>
          <p:cNvPr name="Group 21" id="21"/>
          <p:cNvGrpSpPr/>
          <p:nvPr/>
        </p:nvGrpSpPr>
        <p:grpSpPr>
          <a:xfrm rot="0">
            <a:off x="17184448" y="9324975"/>
            <a:ext cx="608679" cy="602564"/>
            <a:chOff x="0" y="0"/>
            <a:chExt cx="85797" cy="84935"/>
          </a:xfrm>
        </p:grpSpPr>
        <p:sp>
          <p:nvSpPr>
            <p:cNvPr name="Freeform 22" id="22"/>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2595406" y="1443145"/>
            <a:ext cx="5346348" cy="6820743"/>
            <a:chOff x="0" y="0"/>
            <a:chExt cx="614147" cy="783514"/>
          </a:xfrm>
        </p:grpSpPr>
        <p:sp>
          <p:nvSpPr>
            <p:cNvPr name="Freeform 15" id="15"/>
            <p:cNvSpPr/>
            <p:nvPr/>
          </p:nvSpPr>
          <p:spPr>
            <a:xfrm flipH="false" flipV="false" rot="0">
              <a:off x="0" y="0"/>
              <a:ext cx="614147" cy="783514"/>
            </a:xfrm>
            <a:custGeom>
              <a:avLst/>
              <a:gdLst/>
              <a:ahLst/>
              <a:cxnLst/>
              <a:rect r="r" b="b" t="t" l="l"/>
              <a:pathLst>
                <a:path h="783514" w="614147">
                  <a:moveTo>
                    <a:pt x="33306" y="0"/>
                  </a:moveTo>
                  <a:lnTo>
                    <a:pt x="580842" y="0"/>
                  </a:lnTo>
                  <a:cubicBezTo>
                    <a:pt x="589675" y="0"/>
                    <a:pt x="598146" y="3509"/>
                    <a:pt x="604392" y="9755"/>
                  </a:cubicBezTo>
                  <a:cubicBezTo>
                    <a:pt x="610638" y="16001"/>
                    <a:pt x="614147" y="24473"/>
                    <a:pt x="614147" y="33306"/>
                  </a:cubicBezTo>
                  <a:lnTo>
                    <a:pt x="614147" y="750209"/>
                  </a:lnTo>
                  <a:cubicBezTo>
                    <a:pt x="614147" y="759042"/>
                    <a:pt x="610638" y="767513"/>
                    <a:pt x="604392" y="773759"/>
                  </a:cubicBezTo>
                  <a:cubicBezTo>
                    <a:pt x="598146" y="780005"/>
                    <a:pt x="589675" y="783514"/>
                    <a:pt x="580842" y="783514"/>
                  </a:cubicBezTo>
                  <a:lnTo>
                    <a:pt x="33306" y="783514"/>
                  </a:lnTo>
                  <a:cubicBezTo>
                    <a:pt x="24473" y="783514"/>
                    <a:pt x="16001" y="780005"/>
                    <a:pt x="9755" y="773759"/>
                  </a:cubicBezTo>
                  <a:cubicBezTo>
                    <a:pt x="3509" y="767513"/>
                    <a:pt x="0" y="759042"/>
                    <a:pt x="0" y="750209"/>
                  </a:cubicBezTo>
                  <a:lnTo>
                    <a:pt x="0" y="33306"/>
                  </a:lnTo>
                  <a:cubicBezTo>
                    <a:pt x="0" y="24473"/>
                    <a:pt x="3509" y="16001"/>
                    <a:pt x="9755" y="9755"/>
                  </a:cubicBezTo>
                  <a:cubicBezTo>
                    <a:pt x="16001" y="3509"/>
                    <a:pt x="24473" y="0"/>
                    <a:pt x="33306" y="0"/>
                  </a:cubicBezTo>
                  <a:close/>
                </a:path>
              </a:pathLst>
            </a:custGeom>
            <a:blipFill>
              <a:blip r:embed="rId6"/>
              <a:stretch>
                <a:fillRect l="0" t="-274" r="0" b="-274"/>
              </a:stretch>
            </a:blipFill>
          </p:spPr>
        </p:sp>
      </p:grpSp>
      <p:sp>
        <p:nvSpPr>
          <p:cNvPr name="TextBox 16" id="16"/>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PASS 1: CONSERVATION DIRECT LINKING </a:t>
            </a:r>
          </a:p>
        </p:txBody>
      </p:sp>
      <p:sp>
        <p:nvSpPr>
          <p:cNvPr name="TextBox 17" id="17"/>
          <p:cNvSpPr txBox="true"/>
          <p:nvPr/>
        </p:nvSpPr>
        <p:spPr>
          <a:xfrm rot="0">
            <a:off x="2289800" y="3560945"/>
            <a:ext cx="8203160"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On</a:t>
            </a:r>
            <a:r>
              <a:rPr lang="en-US" sz="2000">
                <a:solidFill>
                  <a:srgbClr val="FFFFFF"/>
                </a:solidFill>
                <a:latin typeface="Poppins"/>
                <a:ea typeface="Poppins"/>
                <a:cs typeface="Poppins"/>
                <a:sym typeface="Poppins"/>
              </a:rPr>
              <a:t>ly arrows in immediately neighboring cells were considered as candidates.</a:t>
            </a:r>
          </a:p>
        </p:txBody>
      </p:sp>
      <p:sp>
        <p:nvSpPr>
          <p:cNvPr name="TextBox 18" id="18"/>
          <p:cNvSpPr txBox="true"/>
          <p:nvPr/>
        </p:nvSpPr>
        <p:spPr>
          <a:xfrm rot="0">
            <a:off x="2289800" y="3149331"/>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Link only arrows directly adjacent to a question</a:t>
            </a:r>
          </a:p>
        </p:txBody>
      </p:sp>
      <p:sp>
        <p:nvSpPr>
          <p:cNvPr name="TextBox 19" id="19"/>
          <p:cNvSpPr txBox="true"/>
          <p:nvPr/>
        </p:nvSpPr>
        <p:spPr>
          <a:xfrm rot="0">
            <a:off x="2289800" y="5793901"/>
            <a:ext cx="8203160"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A</a:t>
            </a:r>
            <a:r>
              <a:rPr lang="en-US" sz="2000">
                <a:solidFill>
                  <a:srgbClr val="FFFFFF"/>
                </a:solidFill>
                <a:latin typeface="Poppins"/>
                <a:ea typeface="Poppins"/>
                <a:cs typeface="Poppins"/>
                <a:sym typeface="Poppins"/>
              </a:rPr>
              <a:t>rrow orientation was validated to ensure logical answer flow.</a:t>
            </a:r>
          </a:p>
          <a:p>
            <a:pPr algn="just">
              <a:lnSpc>
                <a:spcPts val="3400"/>
              </a:lnSpc>
            </a:pPr>
          </a:p>
        </p:txBody>
      </p:sp>
      <p:sp>
        <p:nvSpPr>
          <p:cNvPr name="TextBox 20" id="20"/>
          <p:cNvSpPr txBox="true"/>
          <p:nvPr/>
        </p:nvSpPr>
        <p:spPr>
          <a:xfrm rot="0">
            <a:off x="2289800" y="5382287"/>
            <a:ext cx="6536763"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Direction must match the question position</a:t>
            </a:r>
          </a:p>
        </p:txBody>
      </p:sp>
      <p:sp>
        <p:nvSpPr>
          <p:cNvPr name="TextBox 21" id="21"/>
          <p:cNvSpPr txBox="true"/>
          <p:nvPr/>
        </p:nvSpPr>
        <p:spPr>
          <a:xfrm rot="0">
            <a:off x="2255076" y="8023594"/>
            <a:ext cx="8203160" cy="8540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Th</a:t>
            </a:r>
            <a:r>
              <a:rPr lang="en-US" sz="2000">
                <a:solidFill>
                  <a:srgbClr val="FFFFFF"/>
                </a:solidFill>
                <a:latin typeface="Poppins"/>
                <a:ea typeface="Poppins"/>
                <a:cs typeface="Poppins"/>
                <a:sym typeface="Poppins"/>
              </a:rPr>
              <a:t>e strict rules reduced errors but excluded valid non-local cases.</a:t>
            </a:r>
          </a:p>
        </p:txBody>
      </p:sp>
      <p:sp>
        <p:nvSpPr>
          <p:cNvPr name="TextBox 22" id="22"/>
          <p:cNvSpPr txBox="true"/>
          <p:nvPr/>
        </p:nvSpPr>
        <p:spPr>
          <a:xfrm rot="0">
            <a:off x="2255076" y="7611980"/>
            <a:ext cx="6571486"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High precision, but many cases remain unlinked</a:t>
            </a:r>
          </a:p>
        </p:txBody>
      </p:sp>
      <p:grpSp>
        <p:nvGrpSpPr>
          <p:cNvPr name="Group 23" id="23"/>
          <p:cNvGrpSpPr/>
          <p:nvPr/>
        </p:nvGrpSpPr>
        <p:grpSpPr>
          <a:xfrm rot="0">
            <a:off x="17184448" y="9324975"/>
            <a:ext cx="608679" cy="602564"/>
            <a:chOff x="0" y="0"/>
            <a:chExt cx="85797" cy="84935"/>
          </a:xfrm>
        </p:grpSpPr>
        <p:sp>
          <p:nvSpPr>
            <p:cNvPr name="Freeform 24" id="24"/>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5" id="25"/>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2595406" y="1443145"/>
            <a:ext cx="5346348" cy="6820743"/>
            <a:chOff x="0" y="0"/>
            <a:chExt cx="614147" cy="783514"/>
          </a:xfrm>
        </p:grpSpPr>
        <p:sp>
          <p:nvSpPr>
            <p:cNvPr name="Freeform 3" id="3"/>
            <p:cNvSpPr/>
            <p:nvPr/>
          </p:nvSpPr>
          <p:spPr>
            <a:xfrm flipH="false" flipV="false" rot="0">
              <a:off x="0" y="0"/>
              <a:ext cx="614147" cy="783514"/>
            </a:xfrm>
            <a:custGeom>
              <a:avLst/>
              <a:gdLst/>
              <a:ahLst/>
              <a:cxnLst/>
              <a:rect r="r" b="b" t="t" l="l"/>
              <a:pathLst>
                <a:path h="783514" w="614147">
                  <a:moveTo>
                    <a:pt x="33306" y="0"/>
                  </a:moveTo>
                  <a:lnTo>
                    <a:pt x="580842" y="0"/>
                  </a:lnTo>
                  <a:cubicBezTo>
                    <a:pt x="589675" y="0"/>
                    <a:pt x="598146" y="3509"/>
                    <a:pt x="604392" y="9755"/>
                  </a:cubicBezTo>
                  <a:cubicBezTo>
                    <a:pt x="610638" y="16001"/>
                    <a:pt x="614147" y="24473"/>
                    <a:pt x="614147" y="33306"/>
                  </a:cubicBezTo>
                  <a:lnTo>
                    <a:pt x="614147" y="750209"/>
                  </a:lnTo>
                  <a:cubicBezTo>
                    <a:pt x="614147" y="759042"/>
                    <a:pt x="610638" y="767513"/>
                    <a:pt x="604392" y="773759"/>
                  </a:cubicBezTo>
                  <a:cubicBezTo>
                    <a:pt x="598146" y="780005"/>
                    <a:pt x="589675" y="783514"/>
                    <a:pt x="580842" y="783514"/>
                  </a:cubicBezTo>
                  <a:lnTo>
                    <a:pt x="33306" y="783514"/>
                  </a:lnTo>
                  <a:cubicBezTo>
                    <a:pt x="24473" y="783514"/>
                    <a:pt x="16001" y="780005"/>
                    <a:pt x="9755" y="773759"/>
                  </a:cubicBezTo>
                  <a:cubicBezTo>
                    <a:pt x="3509" y="767513"/>
                    <a:pt x="0" y="759042"/>
                    <a:pt x="0" y="750209"/>
                  </a:cubicBezTo>
                  <a:lnTo>
                    <a:pt x="0" y="33306"/>
                  </a:lnTo>
                  <a:cubicBezTo>
                    <a:pt x="0" y="24473"/>
                    <a:pt x="3509" y="16001"/>
                    <a:pt x="9755" y="9755"/>
                  </a:cubicBezTo>
                  <a:cubicBezTo>
                    <a:pt x="16001" y="3509"/>
                    <a:pt x="24473" y="0"/>
                    <a:pt x="33306" y="0"/>
                  </a:cubicBezTo>
                  <a:close/>
                </a:path>
              </a:pathLst>
            </a:custGeom>
            <a:blipFill>
              <a:blip r:embed="rId2"/>
              <a:stretch>
                <a:fillRect l="0" t="-274" r="0" b="-274"/>
              </a:stretch>
            </a:blipFill>
          </p:spPr>
        </p:sp>
      </p:grpSp>
      <p:grpSp>
        <p:nvGrpSpPr>
          <p:cNvPr name="Group 4" id="4"/>
          <p:cNvGrpSpPr/>
          <p:nvPr/>
        </p:nvGrpSpPr>
        <p:grpSpPr>
          <a:xfrm rot="0">
            <a:off x="1455322" y="2825850"/>
            <a:ext cx="9329829" cy="1870392"/>
            <a:chOff x="0" y="0"/>
            <a:chExt cx="1315091" cy="263642"/>
          </a:xfrm>
        </p:grpSpPr>
        <p:sp>
          <p:nvSpPr>
            <p:cNvPr name="Freeform 5" id="5"/>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6" id="6"/>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455322" y="5107941"/>
            <a:ext cx="9329829" cy="1870392"/>
            <a:chOff x="0" y="0"/>
            <a:chExt cx="1315091" cy="263642"/>
          </a:xfrm>
        </p:grpSpPr>
        <p:sp>
          <p:nvSpPr>
            <p:cNvPr name="Freeform 9" id="9"/>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0" id="10"/>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455322" y="7387908"/>
            <a:ext cx="9329829" cy="1870392"/>
            <a:chOff x="0" y="0"/>
            <a:chExt cx="1315091" cy="263642"/>
          </a:xfrm>
        </p:grpSpPr>
        <p:sp>
          <p:nvSpPr>
            <p:cNvPr name="Freeform 13" id="1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4" id="1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a:t>
            </a:r>
            <a:r>
              <a:rPr lang="en-US" sz="2000">
                <a:solidFill>
                  <a:srgbClr val="FFFFFF"/>
                </a:solidFill>
                <a:latin typeface="Poppins"/>
                <a:ea typeface="Poppins"/>
                <a:cs typeface="Poppins"/>
                <a:sym typeface="Poppins"/>
              </a:rPr>
              <a:t> grid was traversed again to re-evaluate unresolved elements.</a:t>
            </a:r>
          </a:p>
        </p:txBody>
      </p:sp>
      <p:sp>
        <p:nvSpPr>
          <p:cNvPr name="TextBox 17" id="17"/>
          <p:cNvSpPr txBox="true"/>
          <p:nvPr/>
        </p:nvSpPr>
        <p:spPr>
          <a:xfrm rot="0">
            <a:off x="2289800" y="3149331"/>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Second pass over the grid</a:t>
            </a:r>
          </a:p>
        </p:txBody>
      </p:sp>
      <p:sp>
        <p:nvSpPr>
          <p:cNvPr name="TextBox 18" id="18"/>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Remaining</a:t>
            </a:r>
            <a:r>
              <a:rPr lang="en-US" sz="2000">
                <a:solidFill>
                  <a:srgbClr val="FFFFFF"/>
                </a:solidFill>
                <a:latin typeface="Poppins"/>
                <a:ea typeface="Poppins"/>
                <a:cs typeface="Poppins"/>
                <a:sym typeface="Poppins"/>
              </a:rPr>
              <a:t> free questions and arrows were matched using spatial proximity.</a:t>
            </a:r>
          </a:p>
        </p:txBody>
      </p:sp>
      <p:sp>
        <p:nvSpPr>
          <p:cNvPr name="TextBox 19" id="19"/>
          <p:cNvSpPr txBox="true"/>
          <p:nvPr/>
        </p:nvSpPr>
        <p:spPr>
          <a:xfrm rot="0">
            <a:off x="2289800" y="5382287"/>
            <a:ext cx="6536763"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Recover unlinked questions and arrows</a:t>
            </a:r>
          </a:p>
        </p:txBody>
      </p:sp>
      <p:sp>
        <p:nvSpPr>
          <p:cNvPr name="TextBox 20" id="20"/>
          <p:cNvSpPr txBox="true"/>
          <p:nvPr/>
        </p:nvSpPr>
        <p:spPr>
          <a:xfrm rot="0">
            <a:off x="2255076" y="8023594"/>
            <a:ext cx="8203160" cy="42545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Linking d</a:t>
            </a:r>
            <a:r>
              <a:rPr lang="en-US" sz="2000">
                <a:solidFill>
                  <a:srgbClr val="FFFFFF"/>
                </a:solidFill>
                <a:latin typeface="Poppins"/>
                <a:ea typeface="Poppins"/>
                <a:cs typeface="Poppins"/>
                <a:sym typeface="Poppins"/>
              </a:rPr>
              <a:t>ecisions followed a simple, rule-based grid logic.</a:t>
            </a:r>
          </a:p>
        </p:txBody>
      </p:sp>
      <p:sp>
        <p:nvSpPr>
          <p:cNvPr name="TextBox 21" id="21"/>
          <p:cNvSpPr txBox="true"/>
          <p:nvPr/>
        </p:nvSpPr>
        <p:spPr>
          <a:xfrm rot="0">
            <a:off x="2255076" y="7611980"/>
            <a:ext cx="6571486"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Structure-aware, deterministic strategy</a:t>
            </a:r>
          </a:p>
        </p:txBody>
      </p:sp>
      <p:sp>
        <p:nvSpPr>
          <p:cNvPr name="TextBox 22" id="22"/>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PASS 2: GRID-BASED RECOVERY</a:t>
            </a:r>
          </a:p>
        </p:txBody>
      </p:sp>
      <p:grpSp>
        <p:nvGrpSpPr>
          <p:cNvPr name="Group 23" id="23"/>
          <p:cNvGrpSpPr/>
          <p:nvPr/>
        </p:nvGrpSpPr>
        <p:grpSpPr>
          <a:xfrm rot="0">
            <a:off x="17184448" y="9324975"/>
            <a:ext cx="608679" cy="602564"/>
            <a:chOff x="0" y="0"/>
            <a:chExt cx="85797" cy="84935"/>
          </a:xfrm>
        </p:grpSpPr>
        <p:sp>
          <p:nvSpPr>
            <p:cNvPr name="Freeform 24" id="24"/>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5" id="25"/>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2595406" y="1443145"/>
            <a:ext cx="5346348" cy="6820743"/>
            <a:chOff x="0" y="0"/>
            <a:chExt cx="614147" cy="783514"/>
          </a:xfrm>
        </p:grpSpPr>
        <p:sp>
          <p:nvSpPr>
            <p:cNvPr name="Freeform 3" id="3"/>
            <p:cNvSpPr/>
            <p:nvPr/>
          </p:nvSpPr>
          <p:spPr>
            <a:xfrm flipH="false" flipV="false" rot="0">
              <a:off x="0" y="0"/>
              <a:ext cx="614147" cy="783514"/>
            </a:xfrm>
            <a:custGeom>
              <a:avLst/>
              <a:gdLst/>
              <a:ahLst/>
              <a:cxnLst/>
              <a:rect r="r" b="b" t="t" l="l"/>
              <a:pathLst>
                <a:path h="783514" w="614147">
                  <a:moveTo>
                    <a:pt x="33306" y="0"/>
                  </a:moveTo>
                  <a:lnTo>
                    <a:pt x="580842" y="0"/>
                  </a:lnTo>
                  <a:cubicBezTo>
                    <a:pt x="589675" y="0"/>
                    <a:pt x="598146" y="3509"/>
                    <a:pt x="604392" y="9755"/>
                  </a:cubicBezTo>
                  <a:cubicBezTo>
                    <a:pt x="610638" y="16001"/>
                    <a:pt x="614147" y="24473"/>
                    <a:pt x="614147" y="33306"/>
                  </a:cubicBezTo>
                  <a:lnTo>
                    <a:pt x="614147" y="750209"/>
                  </a:lnTo>
                  <a:cubicBezTo>
                    <a:pt x="614147" y="759042"/>
                    <a:pt x="610638" y="767513"/>
                    <a:pt x="604392" y="773759"/>
                  </a:cubicBezTo>
                  <a:cubicBezTo>
                    <a:pt x="598146" y="780005"/>
                    <a:pt x="589675" y="783514"/>
                    <a:pt x="580842" y="783514"/>
                  </a:cubicBezTo>
                  <a:lnTo>
                    <a:pt x="33306" y="783514"/>
                  </a:lnTo>
                  <a:cubicBezTo>
                    <a:pt x="24473" y="783514"/>
                    <a:pt x="16001" y="780005"/>
                    <a:pt x="9755" y="773759"/>
                  </a:cubicBezTo>
                  <a:cubicBezTo>
                    <a:pt x="3509" y="767513"/>
                    <a:pt x="0" y="759042"/>
                    <a:pt x="0" y="750209"/>
                  </a:cubicBezTo>
                  <a:lnTo>
                    <a:pt x="0" y="33306"/>
                  </a:lnTo>
                  <a:cubicBezTo>
                    <a:pt x="0" y="24473"/>
                    <a:pt x="3509" y="16001"/>
                    <a:pt x="9755" y="9755"/>
                  </a:cubicBezTo>
                  <a:cubicBezTo>
                    <a:pt x="16001" y="3509"/>
                    <a:pt x="24473" y="0"/>
                    <a:pt x="33306" y="0"/>
                  </a:cubicBezTo>
                  <a:close/>
                </a:path>
              </a:pathLst>
            </a:custGeom>
            <a:blipFill>
              <a:blip r:embed="rId2"/>
              <a:stretch>
                <a:fillRect l="0" t="-274" r="0" b="-274"/>
              </a:stretch>
            </a:blipFill>
          </p:spPr>
        </p:sp>
      </p:grpSp>
      <p:grpSp>
        <p:nvGrpSpPr>
          <p:cNvPr name="Group 4" id="4"/>
          <p:cNvGrpSpPr/>
          <p:nvPr/>
        </p:nvGrpSpPr>
        <p:grpSpPr>
          <a:xfrm rot="0">
            <a:off x="1455322" y="2825850"/>
            <a:ext cx="9329829" cy="1870392"/>
            <a:chOff x="0" y="0"/>
            <a:chExt cx="1315091" cy="263642"/>
          </a:xfrm>
        </p:grpSpPr>
        <p:sp>
          <p:nvSpPr>
            <p:cNvPr name="Freeform 5" id="5"/>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6" id="6"/>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455322" y="5107941"/>
            <a:ext cx="9329829" cy="1870392"/>
            <a:chOff x="0" y="0"/>
            <a:chExt cx="1315091" cy="263642"/>
          </a:xfrm>
        </p:grpSpPr>
        <p:sp>
          <p:nvSpPr>
            <p:cNvPr name="Freeform 9" id="9"/>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0" id="10"/>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455322" y="7387908"/>
            <a:ext cx="9329829" cy="1870392"/>
            <a:chOff x="0" y="0"/>
            <a:chExt cx="1315091" cy="263642"/>
          </a:xfrm>
        </p:grpSpPr>
        <p:sp>
          <p:nvSpPr>
            <p:cNvPr name="Freeform 13" id="1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4" id="1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Each answer</a:t>
            </a:r>
            <a:r>
              <a:rPr lang="en-US" sz="2000">
                <a:solidFill>
                  <a:srgbClr val="FFFFFF"/>
                </a:solidFill>
                <a:latin typeface="Poppins"/>
                <a:ea typeface="Poppins"/>
                <a:cs typeface="Poppins"/>
                <a:sym typeface="Poppins"/>
              </a:rPr>
              <a:t> length was calculated by stepping through the grid cells.</a:t>
            </a:r>
          </a:p>
        </p:txBody>
      </p:sp>
      <p:sp>
        <p:nvSpPr>
          <p:cNvPr name="TextBox 17" id="17"/>
          <p:cNvSpPr txBox="true"/>
          <p:nvPr/>
        </p:nvSpPr>
        <p:spPr>
          <a:xfrm rot="0">
            <a:off x="2289800" y="3149331"/>
            <a:ext cx="687402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Answer length computed by grid walk</a:t>
            </a:r>
          </a:p>
        </p:txBody>
      </p:sp>
      <p:sp>
        <p:nvSpPr>
          <p:cNvPr name="TextBox 18" id="18"/>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Traversal</a:t>
            </a:r>
            <a:r>
              <a:rPr lang="en-US" sz="2000">
                <a:solidFill>
                  <a:srgbClr val="FFFFFF"/>
                </a:solidFill>
                <a:latin typeface="Poppins"/>
                <a:ea typeface="Poppins"/>
                <a:cs typeface="Poppins"/>
                <a:sym typeface="Poppins"/>
              </a:rPr>
              <a:t> stopped at boundaries, question cells, or masked regions.</a:t>
            </a:r>
          </a:p>
        </p:txBody>
      </p:sp>
      <p:sp>
        <p:nvSpPr>
          <p:cNvPr name="TextBox 19" id="19"/>
          <p:cNvSpPr txBox="true"/>
          <p:nvPr/>
        </p:nvSpPr>
        <p:spPr>
          <a:xfrm rot="0">
            <a:off x="2289800" y="5382287"/>
            <a:ext cx="6536763"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Clear stopping conditions</a:t>
            </a:r>
          </a:p>
        </p:txBody>
      </p:sp>
      <p:sp>
        <p:nvSpPr>
          <p:cNvPr name="TextBox 20" id="20"/>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 r</a:t>
            </a:r>
            <a:r>
              <a:rPr lang="en-US" sz="2000">
                <a:solidFill>
                  <a:srgbClr val="FFFFFF"/>
                </a:solidFill>
                <a:latin typeface="Poppins"/>
                <a:ea typeface="Poppins"/>
                <a:cs typeface="Poppins"/>
                <a:sym typeface="Poppins"/>
              </a:rPr>
              <a:t>esult is a clean representation ready for downstream solving.</a:t>
            </a:r>
          </a:p>
        </p:txBody>
      </p:sp>
      <p:sp>
        <p:nvSpPr>
          <p:cNvPr name="TextBox 21" id="21"/>
          <p:cNvSpPr txBox="true"/>
          <p:nvPr/>
        </p:nvSpPr>
        <p:spPr>
          <a:xfrm rot="0">
            <a:off x="2255076" y="7611980"/>
            <a:ext cx="6571486"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Final structured output for the solver</a:t>
            </a:r>
          </a:p>
        </p:txBody>
      </p:sp>
      <p:sp>
        <p:nvSpPr>
          <p:cNvPr name="TextBox 22" id="22"/>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ANSWER LENGTH &amp; FINAL OUTPUT</a:t>
            </a:r>
          </a:p>
        </p:txBody>
      </p:sp>
      <p:grpSp>
        <p:nvGrpSpPr>
          <p:cNvPr name="Group 23" id="23"/>
          <p:cNvGrpSpPr/>
          <p:nvPr/>
        </p:nvGrpSpPr>
        <p:grpSpPr>
          <a:xfrm rot="0">
            <a:off x="17184448" y="9324975"/>
            <a:ext cx="608679" cy="602564"/>
            <a:chOff x="0" y="0"/>
            <a:chExt cx="85797" cy="84935"/>
          </a:xfrm>
        </p:grpSpPr>
        <p:sp>
          <p:nvSpPr>
            <p:cNvPr name="Freeform 24" id="24"/>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5" id="25"/>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48407" y="5706925"/>
            <a:ext cx="14804356" cy="3551375"/>
            <a:chOff x="0" y="0"/>
            <a:chExt cx="2293582" cy="550201"/>
          </a:xfrm>
        </p:grpSpPr>
        <p:sp>
          <p:nvSpPr>
            <p:cNvPr name="Freeform 3" id="3"/>
            <p:cNvSpPr/>
            <p:nvPr/>
          </p:nvSpPr>
          <p:spPr>
            <a:xfrm flipH="false" flipV="false" rot="0">
              <a:off x="0" y="0"/>
              <a:ext cx="2293582" cy="550201"/>
            </a:xfrm>
            <a:custGeom>
              <a:avLst/>
              <a:gdLst/>
              <a:ahLst/>
              <a:cxnLst/>
              <a:rect r="r" b="b" t="t" l="l"/>
              <a:pathLst>
                <a:path h="550201" w="2293582">
                  <a:moveTo>
                    <a:pt x="12028" y="0"/>
                  </a:moveTo>
                  <a:lnTo>
                    <a:pt x="2281554" y="0"/>
                  </a:lnTo>
                  <a:cubicBezTo>
                    <a:pt x="2284744" y="0"/>
                    <a:pt x="2287804" y="1267"/>
                    <a:pt x="2290059" y="3523"/>
                  </a:cubicBezTo>
                  <a:cubicBezTo>
                    <a:pt x="2292315" y="5779"/>
                    <a:pt x="2293582" y="8838"/>
                    <a:pt x="2293582" y="12028"/>
                  </a:cubicBezTo>
                  <a:lnTo>
                    <a:pt x="2293582" y="538173"/>
                  </a:lnTo>
                  <a:cubicBezTo>
                    <a:pt x="2293582" y="541363"/>
                    <a:pt x="2292315" y="544422"/>
                    <a:pt x="2290059" y="546678"/>
                  </a:cubicBezTo>
                  <a:cubicBezTo>
                    <a:pt x="2287804" y="548934"/>
                    <a:pt x="2284744" y="550201"/>
                    <a:pt x="2281554" y="550201"/>
                  </a:cubicBezTo>
                  <a:lnTo>
                    <a:pt x="12028" y="550201"/>
                  </a:lnTo>
                  <a:cubicBezTo>
                    <a:pt x="8838" y="550201"/>
                    <a:pt x="5779" y="548934"/>
                    <a:pt x="3523" y="546678"/>
                  </a:cubicBezTo>
                  <a:cubicBezTo>
                    <a:pt x="1267" y="544422"/>
                    <a:pt x="0" y="541363"/>
                    <a:pt x="0" y="538173"/>
                  </a:cubicBezTo>
                  <a:lnTo>
                    <a:pt x="0" y="12028"/>
                  </a:lnTo>
                  <a:cubicBezTo>
                    <a:pt x="0" y="8838"/>
                    <a:pt x="1267" y="5779"/>
                    <a:pt x="3523" y="3523"/>
                  </a:cubicBezTo>
                  <a:cubicBezTo>
                    <a:pt x="5779" y="1267"/>
                    <a:pt x="8838" y="0"/>
                    <a:pt x="12028" y="0"/>
                  </a:cubicBezTo>
                  <a:close/>
                </a:path>
              </a:pathLst>
            </a:custGeom>
            <a:blipFill>
              <a:blip r:embed="rId2"/>
              <a:stretch>
                <a:fillRect l="0" t="-85317" r="0" b="-92085"/>
              </a:stretch>
            </a:blipFill>
          </p:spPr>
        </p:sp>
      </p:grpSp>
      <p:grpSp>
        <p:nvGrpSpPr>
          <p:cNvPr name="Group 4" id="4"/>
          <p:cNvGrpSpPr/>
          <p:nvPr/>
        </p:nvGrpSpPr>
        <p:grpSpPr>
          <a:xfrm rot="0">
            <a:off x="10677864" y="3122457"/>
            <a:ext cx="2815128" cy="4059469"/>
            <a:chOff x="0" y="0"/>
            <a:chExt cx="428955" cy="618562"/>
          </a:xfrm>
        </p:grpSpPr>
        <p:sp>
          <p:nvSpPr>
            <p:cNvPr name="Freeform 5" id="5"/>
            <p:cNvSpPr/>
            <p:nvPr/>
          </p:nvSpPr>
          <p:spPr>
            <a:xfrm flipH="false" flipV="false" rot="0">
              <a:off x="0" y="0"/>
              <a:ext cx="428955" cy="618562"/>
            </a:xfrm>
            <a:custGeom>
              <a:avLst/>
              <a:gdLst/>
              <a:ahLst/>
              <a:cxnLst/>
              <a:rect r="r" b="b" t="t" l="l"/>
              <a:pathLst>
                <a:path h="618562" w="428955">
                  <a:moveTo>
                    <a:pt x="55002" y="0"/>
                  </a:moveTo>
                  <a:lnTo>
                    <a:pt x="373953" y="0"/>
                  </a:lnTo>
                  <a:cubicBezTo>
                    <a:pt x="388541" y="0"/>
                    <a:pt x="402531" y="5795"/>
                    <a:pt x="412846" y="16110"/>
                  </a:cubicBezTo>
                  <a:cubicBezTo>
                    <a:pt x="423161" y="26425"/>
                    <a:pt x="428955" y="40415"/>
                    <a:pt x="428955" y="55002"/>
                  </a:cubicBezTo>
                  <a:lnTo>
                    <a:pt x="428955" y="563560"/>
                  </a:lnTo>
                  <a:cubicBezTo>
                    <a:pt x="428955" y="593937"/>
                    <a:pt x="404330" y="618562"/>
                    <a:pt x="373953" y="618562"/>
                  </a:cubicBezTo>
                  <a:lnTo>
                    <a:pt x="55002" y="618562"/>
                  </a:lnTo>
                  <a:cubicBezTo>
                    <a:pt x="40415" y="618562"/>
                    <a:pt x="26425" y="612767"/>
                    <a:pt x="16110" y="602452"/>
                  </a:cubicBezTo>
                  <a:cubicBezTo>
                    <a:pt x="5795" y="592137"/>
                    <a:pt x="0" y="578147"/>
                    <a:pt x="0" y="56356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6" id="6"/>
            <p:cNvSpPr txBox="true"/>
            <p:nvPr/>
          </p:nvSpPr>
          <p:spPr>
            <a:xfrm>
              <a:off x="0" y="-38100"/>
              <a:ext cx="428955" cy="65666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1025634" y="3413439"/>
            <a:ext cx="2119589" cy="2689137"/>
            <a:chOff x="0" y="0"/>
            <a:chExt cx="354984" cy="450370"/>
          </a:xfrm>
        </p:grpSpPr>
        <p:sp>
          <p:nvSpPr>
            <p:cNvPr name="Freeform 8" id="8"/>
            <p:cNvSpPr/>
            <p:nvPr/>
          </p:nvSpPr>
          <p:spPr>
            <a:xfrm flipH="false" flipV="false" rot="0">
              <a:off x="0" y="0"/>
              <a:ext cx="354984" cy="450370"/>
            </a:xfrm>
            <a:custGeom>
              <a:avLst/>
              <a:gdLst/>
              <a:ahLst/>
              <a:cxnLst/>
              <a:rect r="r" b="b" t="t" l="l"/>
              <a:pathLst>
                <a:path h="450370" w="354984">
                  <a:moveTo>
                    <a:pt x="84009" y="0"/>
                  </a:moveTo>
                  <a:lnTo>
                    <a:pt x="270975" y="0"/>
                  </a:lnTo>
                  <a:cubicBezTo>
                    <a:pt x="317372" y="0"/>
                    <a:pt x="354984" y="37612"/>
                    <a:pt x="354984" y="84009"/>
                  </a:cubicBezTo>
                  <a:lnTo>
                    <a:pt x="354984" y="366361"/>
                  </a:lnTo>
                  <a:cubicBezTo>
                    <a:pt x="354984" y="412758"/>
                    <a:pt x="317372" y="450370"/>
                    <a:pt x="270975" y="450370"/>
                  </a:cubicBezTo>
                  <a:lnTo>
                    <a:pt x="84009" y="450370"/>
                  </a:lnTo>
                  <a:cubicBezTo>
                    <a:pt x="37612" y="450370"/>
                    <a:pt x="0" y="412758"/>
                    <a:pt x="0" y="366361"/>
                  </a:cubicBezTo>
                  <a:lnTo>
                    <a:pt x="0" y="84009"/>
                  </a:lnTo>
                  <a:cubicBezTo>
                    <a:pt x="0" y="37612"/>
                    <a:pt x="37612" y="0"/>
                    <a:pt x="84009" y="0"/>
                  </a:cubicBezTo>
                  <a:close/>
                </a:path>
              </a:pathLst>
            </a:custGeom>
            <a:solidFill>
              <a:srgbClr val="000000">
                <a:alpha val="0"/>
              </a:srgbClr>
            </a:solidFill>
            <a:ln w="12700">
              <a:solidFill>
                <a:srgbClr val="000000"/>
              </a:solidFill>
            </a:ln>
          </p:spPr>
        </p:sp>
      </p:grpSp>
      <p:grpSp>
        <p:nvGrpSpPr>
          <p:cNvPr name="Group 9" id="9"/>
          <p:cNvGrpSpPr/>
          <p:nvPr/>
        </p:nvGrpSpPr>
        <p:grpSpPr>
          <a:xfrm rot="0">
            <a:off x="13940667" y="3122457"/>
            <a:ext cx="2815128" cy="4059469"/>
            <a:chOff x="0" y="0"/>
            <a:chExt cx="428955" cy="618562"/>
          </a:xfrm>
        </p:grpSpPr>
        <p:sp>
          <p:nvSpPr>
            <p:cNvPr name="Freeform 10" id="10"/>
            <p:cNvSpPr/>
            <p:nvPr/>
          </p:nvSpPr>
          <p:spPr>
            <a:xfrm flipH="false" flipV="false" rot="0">
              <a:off x="0" y="0"/>
              <a:ext cx="428955" cy="618562"/>
            </a:xfrm>
            <a:custGeom>
              <a:avLst/>
              <a:gdLst/>
              <a:ahLst/>
              <a:cxnLst/>
              <a:rect r="r" b="b" t="t" l="l"/>
              <a:pathLst>
                <a:path h="618562" w="428955">
                  <a:moveTo>
                    <a:pt x="55002" y="0"/>
                  </a:moveTo>
                  <a:lnTo>
                    <a:pt x="373953" y="0"/>
                  </a:lnTo>
                  <a:cubicBezTo>
                    <a:pt x="388541" y="0"/>
                    <a:pt x="402531" y="5795"/>
                    <a:pt x="412846" y="16110"/>
                  </a:cubicBezTo>
                  <a:cubicBezTo>
                    <a:pt x="423161" y="26425"/>
                    <a:pt x="428955" y="40415"/>
                    <a:pt x="428955" y="55002"/>
                  </a:cubicBezTo>
                  <a:lnTo>
                    <a:pt x="428955" y="563560"/>
                  </a:lnTo>
                  <a:cubicBezTo>
                    <a:pt x="428955" y="593937"/>
                    <a:pt x="404330" y="618562"/>
                    <a:pt x="373953" y="618562"/>
                  </a:cubicBezTo>
                  <a:lnTo>
                    <a:pt x="55002" y="618562"/>
                  </a:lnTo>
                  <a:cubicBezTo>
                    <a:pt x="40415" y="618562"/>
                    <a:pt x="26425" y="612767"/>
                    <a:pt x="16110" y="602452"/>
                  </a:cubicBezTo>
                  <a:cubicBezTo>
                    <a:pt x="5795" y="592137"/>
                    <a:pt x="0" y="578147"/>
                    <a:pt x="0" y="563560"/>
                  </a:cubicBezTo>
                  <a:lnTo>
                    <a:pt x="0" y="55002"/>
                  </a:lnTo>
                  <a:cubicBezTo>
                    <a:pt x="0" y="40415"/>
                    <a:pt x="5795" y="26425"/>
                    <a:pt x="16110" y="16110"/>
                  </a:cubicBezTo>
                  <a:cubicBezTo>
                    <a:pt x="26425" y="5795"/>
                    <a:pt x="40415" y="0"/>
                    <a:pt x="55002"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1" id="11"/>
            <p:cNvSpPr txBox="true"/>
            <p:nvPr/>
          </p:nvSpPr>
          <p:spPr>
            <a:xfrm>
              <a:off x="0" y="-38100"/>
              <a:ext cx="428955" cy="656662"/>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4288436" y="3413439"/>
            <a:ext cx="2119589" cy="2689137"/>
            <a:chOff x="0" y="0"/>
            <a:chExt cx="354984" cy="450370"/>
          </a:xfrm>
        </p:grpSpPr>
        <p:sp>
          <p:nvSpPr>
            <p:cNvPr name="Freeform 13" id="13"/>
            <p:cNvSpPr/>
            <p:nvPr/>
          </p:nvSpPr>
          <p:spPr>
            <a:xfrm flipH="false" flipV="false" rot="0">
              <a:off x="0" y="0"/>
              <a:ext cx="354984" cy="450370"/>
            </a:xfrm>
            <a:custGeom>
              <a:avLst/>
              <a:gdLst/>
              <a:ahLst/>
              <a:cxnLst/>
              <a:rect r="r" b="b" t="t" l="l"/>
              <a:pathLst>
                <a:path h="450370" w="354984">
                  <a:moveTo>
                    <a:pt x="84009" y="0"/>
                  </a:moveTo>
                  <a:lnTo>
                    <a:pt x="270975" y="0"/>
                  </a:lnTo>
                  <a:cubicBezTo>
                    <a:pt x="317372" y="0"/>
                    <a:pt x="354984" y="37612"/>
                    <a:pt x="354984" y="84009"/>
                  </a:cubicBezTo>
                  <a:lnTo>
                    <a:pt x="354984" y="366361"/>
                  </a:lnTo>
                  <a:cubicBezTo>
                    <a:pt x="354984" y="412758"/>
                    <a:pt x="317372" y="450370"/>
                    <a:pt x="270975" y="450370"/>
                  </a:cubicBezTo>
                  <a:lnTo>
                    <a:pt x="84009" y="450370"/>
                  </a:lnTo>
                  <a:cubicBezTo>
                    <a:pt x="37612" y="450370"/>
                    <a:pt x="0" y="412758"/>
                    <a:pt x="0" y="366361"/>
                  </a:cubicBezTo>
                  <a:lnTo>
                    <a:pt x="0" y="84009"/>
                  </a:lnTo>
                  <a:cubicBezTo>
                    <a:pt x="0" y="37612"/>
                    <a:pt x="37612" y="0"/>
                    <a:pt x="84009" y="0"/>
                  </a:cubicBezTo>
                  <a:close/>
                </a:path>
              </a:pathLst>
            </a:custGeom>
            <a:blipFill>
              <a:blip r:embed="rId3"/>
              <a:stretch>
                <a:fillRect l="-161545" t="-27111" r="-31134" b="-26587"/>
              </a:stretch>
            </a:blipFill>
          </p:spPr>
        </p:sp>
      </p:grpSp>
      <p:grpSp>
        <p:nvGrpSpPr>
          <p:cNvPr name="Group 14" id="14"/>
          <p:cNvGrpSpPr/>
          <p:nvPr/>
        </p:nvGrpSpPr>
        <p:grpSpPr>
          <a:xfrm rot="0">
            <a:off x="17184448" y="9324975"/>
            <a:ext cx="608679" cy="602564"/>
            <a:chOff x="0" y="0"/>
            <a:chExt cx="85797" cy="84935"/>
          </a:xfrm>
        </p:grpSpPr>
        <p:sp>
          <p:nvSpPr>
            <p:cNvPr name="Freeform 15" id="15"/>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6" id="16"/>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18</a:t>
            </a:r>
          </a:p>
        </p:txBody>
      </p:sp>
      <p:grpSp>
        <p:nvGrpSpPr>
          <p:cNvPr name="Group 18" id="18"/>
          <p:cNvGrpSpPr/>
          <p:nvPr/>
        </p:nvGrpSpPr>
        <p:grpSpPr>
          <a:xfrm rot="0">
            <a:off x="11025634" y="3423056"/>
            <a:ext cx="2119589" cy="2689137"/>
            <a:chOff x="0" y="0"/>
            <a:chExt cx="354984" cy="450370"/>
          </a:xfrm>
        </p:grpSpPr>
        <p:sp>
          <p:nvSpPr>
            <p:cNvPr name="Freeform 19" id="19"/>
            <p:cNvSpPr/>
            <p:nvPr/>
          </p:nvSpPr>
          <p:spPr>
            <a:xfrm flipH="false" flipV="false" rot="0">
              <a:off x="0" y="0"/>
              <a:ext cx="354984" cy="450370"/>
            </a:xfrm>
            <a:custGeom>
              <a:avLst/>
              <a:gdLst/>
              <a:ahLst/>
              <a:cxnLst/>
              <a:rect r="r" b="b" t="t" l="l"/>
              <a:pathLst>
                <a:path h="450370" w="354984">
                  <a:moveTo>
                    <a:pt x="84009" y="0"/>
                  </a:moveTo>
                  <a:lnTo>
                    <a:pt x="270975" y="0"/>
                  </a:lnTo>
                  <a:cubicBezTo>
                    <a:pt x="317372" y="0"/>
                    <a:pt x="354984" y="37612"/>
                    <a:pt x="354984" y="84009"/>
                  </a:cubicBezTo>
                  <a:lnTo>
                    <a:pt x="354984" y="366361"/>
                  </a:lnTo>
                  <a:cubicBezTo>
                    <a:pt x="354984" y="412758"/>
                    <a:pt x="317372" y="450370"/>
                    <a:pt x="270975" y="450370"/>
                  </a:cubicBezTo>
                  <a:lnTo>
                    <a:pt x="84009" y="450370"/>
                  </a:lnTo>
                  <a:cubicBezTo>
                    <a:pt x="37612" y="450370"/>
                    <a:pt x="0" y="412758"/>
                    <a:pt x="0" y="366361"/>
                  </a:cubicBezTo>
                  <a:lnTo>
                    <a:pt x="0" y="84009"/>
                  </a:lnTo>
                  <a:cubicBezTo>
                    <a:pt x="0" y="37612"/>
                    <a:pt x="37612" y="0"/>
                    <a:pt x="84009" y="0"/>
                  </a:cubicBezTo>
                  <a:close/>
                </a:path>
              </a:pathLst>
            </a:custGeom>
            <a:blipFill>
              <a:blip r:embed="rId3"/>
              <a:stretch>
                <a:fillRect l="-37943" t="-25323" r="-154737" b="-28374"/>
              </a:stretch>
            </a:blipFill>
          </p:spPr>
        </p:sp>
      </p:grpSp>
      <p:sp>
        <p:nvSpPr>
          <p:cNvPr name="TextBox 20" id="20"/>
          <p:cNvSpPr txBox="true"/>
          <p:nvPr/>
        </p:nvSpPr>
        <p:spPr>
          <a:xfrm rot="0">
            <a:off x="1455322" y="722975"/>
            <a:ext cx="9329829"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LIBRARIES USED IN THIS PART</a:t>
            </a:r>
          </a:p>
        </p:txBody>
      </p:sp>
      <p:grpSp>
        <p:nvGrpSpPr>
          <p:cNvPr name="Group 21" id="21"/>
          <p:cNvGrpSpPr/>
          <p:nvPr/>
        </p:nvGrpSpPr>
        <p:grpSpPr>
          <a:xfrm rot="0">
            <a:off x="1028700" y="3273108"/>
            <a:ext cx="9329829" cy="1870392"/>
            <a:chOff x="0" y="0"/>
            <a:chExt cx="1315091" cy="263642"/>
          </a:xfrm>
        </p:grpSpPr>
        <p:sp>
          <p:nvSpPr>
            <p:cNvPr name="Freeform 22" id="22"/>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292474" y="3505042"/>
            <a:ext cx="8511093"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In this part, We mainly used NumPy for</a:t>
            </a:r>
            <a:r>
              <a:rPr lang="en-US" sz="2000">
                <a:solidFill>
                  <a:srgbClr val="FFFFFF"/>
                </a:solidFill>
                <a:latin typeface="Poppins"/>
                <a:ea typeface="Poppins"/>
                <a:cs typeface="Poppins"/>
                <a:sym typeface="Poppins"/>
              </a:rPr>
              <a:t> grid logic, OpenCV and Matplotlib for visualization, and simple file utilities for structured outputs.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OCR is</a:t>
            </a:r>
            <a:r>
              <a:rPr lang="en-US" sz="2000">
                <a:solidFill>
                  <a:srgbClr val="FFFFFF"/>
                </a:solidFill>
                <a:latin typeface="Poppins"/>
                <a:ea typeface="Poppins"/>
                <a:cs typeface="Poppins"/>
                <a:sym typeface="Poppins"/>
              </a:rPr>
              <a:t> applied per question cell, not on the full image.</a:t>
            </a:r>
          </a:p>
          <a:p>
            <a:pPr algn="l">
              <a:lnSpc>
                <a:spcPts val="3400"/>
              </a:lnSpc>
            </a:pPr>
          </a:p>
        </p:txBody>
      </p:sp>
      <p:sp>
        <p:nvSpPr>
          <p:cNvPr name="TextBox 15" id="15"/>
          <p:cNvSpPr txBox="true"/>
          <p:nvPr/>
        </p:nvSpPr>
        <p:spPr>
          <a:xfrm rot="0">
            <a:off x="2289800" y="3149331"/>
            <a:ext cx="6874027"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Cell-level OCR</a:t>
            </a:r>
          </a:p>
        </p:txBody>
      </p:sp>
      <p:sp>
        <p:nvSpPr>
          <p:cNvPr name="TextBox 16" id="16"/>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More stable</a:t>
            </a:r>
            <a:r>
              <a:rPr lang="en-US" sz="2000">
                <a:solidFill>
                  <a:srgbClr val="FFFFFF"/>
                </a:solidFill>
                <a:latin typeface="Poppins"/>
                <a:ea typeface="Poppins"/>
                <a:cs typeface="Poppins"/>
                <a:sym typeface="Poppins"/>
              </a:rPr>
              <a:t> than classical OCR for German crossword text.</a:t>
            </a:r>
          </a:p>
          <a:p>
            <a:pPr algn="l">
              <a:lnSpc>
                <a:spcPts val="3400"/>
              </a:lnSpc>
            </a:pPr>
          </a:p>
        </p:txBody>
      </p:sp>
      <p:sp>
        <p:nvSpPr>
          <p:cNvPr name="TextBox 17" id="17"/>
          <p:cNvSpPr txBox="true"/>
          <p:nvPr/>
        </p:nvSpPr>
        <p:spPr>
          <a:xfrm rot="0">
            <a:off x="2289800" y="5382287"/>
            <a:ext cx="6536763" cy="711081"/>
          </a:xfrm>
          <a:prstGeom prst="rect">
            <a:avLst/>
          </a:prstGeom>
        </p:spPr>
        <p:txBody>
          <a:bodyPr anchor="t" rtlCol="false" tIns="0" lIns="0" bIns="0" rIns="0">
            <a:spAutoFit/>
          </a:bodyPr>
          <a:lstStyle/>
          <a:p>
            <a:pPr algn="l">
              <a:lnSpc>
                <a:spcPts val="2799"/>
              </a:lnSpc>
            </a:pPr>
            <a:r>
              <a:rPr lang="en-US" sz="1999" b="true">
                <a:solidFill>
                  <a:srgbClr val="FFFFFF"/>
                </a:solidFill>
                <a:latin typeface="Poppins Bold"/>
                <a:ea typeface="Poppins Bold"/>
                <a:cs typeface="Poppins Bold"/>
                <a:sym typeface="Poppins Bold"/>
              </a:rPr>
              <a:t>OpenAI Vision-based OCR (GPT-4.1)</a:t>
            </a:r>
          </a:p>
          <a:p>
            <a:pPr algn="l">
              <a:lnSpc>
                <a:spcPts val="2799"/>
              </a:lnSpc>
              <a:spcBef>
                <a:spcPct val="0"/>
              </a:spcBef>
            </a:pPr>
          </a:p>
        </p:txBody>
      </p:sp>
      <p:sp>
        <p:nvSpPr>
          <p:cNvPr name="TextBox 18" id="18"/>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Prod</a:t>
            </a:r>
            <a:r>
              <a:rPr lang="en-US" sz="2000">
                <a:solidFill>
                  <a:srgbClr val="FFFFFF"/>
                </a:solidFill>
                <a:latin typeface="Poppins"/>
                <a:ea typeface="Poppins"/>
                <a:cs typeface="Poppins"/>
                <a:sym typeface="Poppins"/>
              </a:rPr>
              <a:t>uces structured text used by all solvers.</a:t>
            </a:r>
          </a:p>
          <a:p>
            <a:pPr algn="l">
              <a:lnSpc>
                <a:spcPts val="3400"/>
              </a:lnSpc>
            </a:pPr>
          </a:p>
        </p:txBody>
      </p:sp>
      <p:sp>
        <p:nvSpPr>
          <p:cNvPr name="TextBox 19" id="19"/>
          <p:cNvSpPr txBox="true"/>
          <p:nvPr/>
        </p:nvSpPr>
        <p:spPr>
          <a:xfrm rot="0">
            <a:off x="2255076" y="7611980"/>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Clean input for solver</a:t>
            </a:r>
          </a:p>
        </p:txBody>
      </p:sp>
      <p:sp>
        <p:nvSpPr>
          <p:cNvPr name="TextBox 20" id="20"/>
          <p:cNvSpPr txBox="true"/>
          <p:nvPr/>
        </p:nvSpPr>
        <p:spPr>
          <a:xfrm rot="0">
            <a:off x="1455322" y="1304645"/>
            <a:ext cx="9329829"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OCR &amp; Text Extraction</a:t>
            </a:r>
          </a:p>
        </p:txBody>
      </p:sp>
      <p:grpSp>
        <p:nvGrpSpPr>
          <p:cNvPr name="Group 21" id="21"/>
          <p:cNvGrpSpPr/>
          <p:nvPr/>
        </p:nvGrpSpPr>
        <p:grpSpPr>
          <a:xfrm rot="0">
            <a:off x="12325423" y="4391721"/>
            <a:ext cx="4933877" cy="1993428"/>
            <a:chOff x="0" y="0"/>
            <a:chExt cx="798568" cy="322645"/>
          </a:xfrm>
        </p:grpSpPr>
        <p:sp>
          <p:nvSpPr>
            <p:cNvPr name="Freeform 22" id="22"/>
            <p:cNvSpPr/>
            <p:nvPr/>
          </p:nvSpPr>
          <p:spPr>
            <a:xfrm flipH="false" flipV="false" rot="0">
              <a:off x="0" y="0"/>
              <a:ext cx="798568" cy="322645"/>
            </a:xfrm>
            <a:custGeom>
              <a:avLst/>
              <a:gdLst/>
              <a:ahLst/>
              <a:cxnLst/>
              <a:rect r="r" b="b" t="t" l="l"/>
              <a:pathLst>
                <a:path h="322645" w="798568">
                  <a:moveTo>
                    <a:pt x="31383" y="0"/>
                  </a:moveTo>
                  <a:lnTo>
                    <a:pt x="767186" y="0"/>
                  </a:lnTo>
                  <a:cubicBezTo>
                    <a:pt x="775509" y="0"/>
                    <a:pt x="783491" y="3306"/>
                    <a:pt x="789377" y="9192"/>
                  </a:cubicBezTo>
                  <a:cubicBezTo>
                    <a:pt x="795262" y="15077"/>
                    <a:pt x="798568" y="23059"/>
                    <a:pt x="798568" y="31383"/>
                  </a:cubicBezTo>
                  <a:lnTo>
                    <a:pt x="798568" y="291262"/>
                  </a:lnTo>
                  <a:cubicBezTo>
                    <a:pt x="798568" y="299585"/>
                    <a:pt x="795262" y="307567"/>
                    <a:pt x="789377" y="313453"/>
                  </a:cubicBezTo>
                  <a:cubicBezTo>
                    <a:pt x="783491" y="319338"/>
                    <a:pt x="775509" y="322645"/>
                    <a:pt x="767186" y="322645"/>
                  </a:cubicBezTo>
                  <a:lnTo>
                    <a:pt x="31383" y="322645"/>
                  </a:lnTo>
                  <a:cubicBezTo>
                    <a:pt x="23059" y="322645"/>
                    <a:pt x="15077" y="319338"/>
                    <a:pt x="9192" y="313453"/>
                  </a:cubicBezTo>
                  <a:cubicBezTo>
                    <a:pt x="3306" y="307567"/>
                    <a:pt x="0" y="299585"/>
                    <a:pt x="0" y="291262"/>
                  </a:cubicBezTo>
                  <a:lnTo>
                    <a:pt x="0" y="31383"/>
                  </a:lnTo>
                  <a:cubicBezTo>
                    <a:pt x="0" y="23059"/>
                    <a:pt x="3306" y="15077"/>
                    <a:pt x="9192" y="9192"/>
                  </a:cubicBezTo>
                  <a:cubicBezTo>
                    <a:pt x="15077" y="3306"/>
                    <a:pt x="23059" y="0"/>
                    <a:pt x="31383"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38100"/>
              <a:ext cx="798568" cy="36074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2772423" y="4740743"/>
            <a:ext cx="3332275" cy="1730375"/>
          </a:xfrm>
          <a:prstGeom prst="rect">
            <a:avLst/>
          </a:prstGeom>
        </p:spPr>
        <p:txBody>
          <a:bodyPr anchor="t" rtlCol="false" tIns="0" lIns="0" bIns="0" rIns="0">
            <a:spAutoFit/>
          </a:bodyPr>
          <a:lstStyle/>
          <a:p>
            <a:pPr algn="l">
              <a:lnSpc>
                <a:spcPts val="3400"/>
              </a:lnSpc>
            </a:pPr>
          </a:p>
          <a:p>
            <a:pPr algn="l" marL="431801" indent="-215900" lvl="1">
              <a:lnSpc>
                <a:spcPts val="3400"/>
              </a:lnSpc>
              <a:buFont typeface="Arial"/>
              <a:buChar char="•"/>
            </a:pPr>
            <a:r>
              <a:rPr lang="en-US" sz="2000">
                <a:solidFill>
                  <a:srgbClr val="FFFFFF"/>
                </a:solidFill>
                <a:latin typeface="Poppins"/>
                <a:ea typeface="Poppins"/>
                <a:cs typeface="Poppins"/>
                <a:sym typeface="Poppins"/>
              </a:rPr>
              <a:t>ba</a:t>
            </a:r>
            <a:r>
              <a:rPr lang="en-US" sz="2000">
                <a:solidFill>
                  <a:srgbClr val="FFFFFF"/>
                </a:solidFill>
                <a:latin typeface="Poppins"/>
                <a:ea typeface="Poppins"/>
                <a:cs typeface="Poppins"/>
                <a:sym typeface="Poppins"/>
              </a:rPr>
              <a:t>s</a:t>
            </a:r>
            <a:r>
              <a:rPr lang="en-US" sz="2000">
                <a:solidFill>
                  <a:srgbClr val="FFFFFF"/>
                </a:solidFill>
                <a:latin typeface="Poppins"/>
                <a:ea typeface="Poppins"/>
                <a:cs typeface="Poppins"/>
                <a:sym typeface="Poppins"/>
              </a:rPr>
              <a:t>e64</a:t>
            </a:r>
          </a:p>
          <a:p>
            <a:pPr algn="l" marL="431801" indent="-215900" lvl="1">
              <a:lnSpc>
                <a:spcPts val="3400"/>
              </a:lnSpc>
              <a:buFont typeface="Arial"/>
              <a:buChar char="•"/>
            </a:pPr>
            <a:r>
              <a:rPr lang="en-US" sz="2000">
                <a:solidFill>
                  <a:srgbClr val="FFFFFF"/>
                </a:solidFill>
                <a:latin typeface="Poppins"/>
                <a:ea typeface="Poppins"/>
                <a:cs typeface="Poppins"/>
                <a:sym typeface="Poppins"/>
              </a:rPr>
              <a:t>openai</a:t>
            </a:r>
          </a:p>
          <a:p>
            <a:pPr algn="l">
              <a:lnSpc>
                <a:spcPts val="3400"/>
              </a:lnSpc>
            </a:pPr>
          </a:p>
        </p:txBody>
      </p:sp>
      <p:sp>
        <p:nvSpPr>
          <p:cNvPr name="TextBox 25" id="25"/>
          <p:cNvSpPr txBox="true"/>
          <p:nvPr/>
        </p:nvSpPr>
        <p:spPr>
          <a:xfrm rot="0">
            <a:off x="12906025" y="4630724"/>
            <a:ext cx="2469432"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Libraries used:</a:t>
            </a:r>
          </a:p>
        </p:txBody>
      </p:sp>
      <p:grpSp>
        <p:nvGrpSpPr>
          <p:cNvPr name="Group 26" id="26"/>
          <p:cNvGrpSpPr/>
          <p:nvPr/>
        </p:nvGrpSpPr>
        <p:grpSpPr>
          <a:xfrm rot="0">
            <a:off x="17184448" y="9324975"/>
            <a:ext cx="608679" cy="602564"/>
            <a:chOff x="0" y="0"/>
            <a:chExt cx="85797" cy="84935"/>
          </a:xfrm>
        </p:grpSpPr>
        <p:sp>
          <p:nvSpPr>
            <p:cNvPr name="Freeform 27" id="27"/>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8" id="28"/>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9" id="29"/>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Text, start</a:t>
            </a:r>
            <a:r>
              <a:rPr lang="en-US" sz="2000">
                <a:solidFill>
                  <a:srgbClr val="FFFFFF"/>
                </a:solidFill>
                <a:latin typeface="Poppins"/>
                <a:ea typeface="Poppins"/>
                <a:cs typeface="Poppins"/>
                <a:sym typeface="Poppins"/>
              </a:rPr>
              <a:t> cell, direction, and answer length.</a:t>
            </a:r>
          </a:p>
          <a:p>
            <a:pPr algn="l">
              <a:lnSpc>
                <a:spcPts val="3400"/>
              </a:lnSpc>
            </a:pPr>
          </a:p>
        </p:txBody>
      </p:sp>
      <p:sp>
        <p:nvSpPr>
          <p:cNvPr name="TextBox 15" id="15"/>
          <p:cNvSpPr txBox="true"/>
          <p:nvPr/>
        </p:nvSpPr>
        <p:spPr>
          <a:xfrm rot="0">
            <a:off x="2289800" y="3149331"/>
            <a:ext cx="6874027"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Question metadata</a:t>
            </a:r>
          </a:p>
        </p:txBody>
      </p:sp>
      <p:sp>
        <p:nvSpPr>
          <p:cNvPr name="TextBox 16" id="16"/>
          <p:cNvSpPr txBox="true"/>
          <p:nvPr/>
        </p:nvSpPr>
        <p:spPr>
          <a:xfrm rot="0">
            <a:off x="2289800" y="5793901"/>
            <a:ext cx="8203160" cy="42545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S</a:t>
            </a:r>
            <a:r>
              <a:rPr lang="en-US" sz="2000">
                <a:solidFill>
                  <a:srgbClr val="FFFFFF"/>
                </a:solidFill>
                <a:latin typeface="Poppins"/>
                <a:ea typeface="Poppins"/>
                <a:cs typeface="Poppins"/>
                <a:sym typeface="Poppins"/>
              </a:rPr>
              <a:t>hared letters at intersections</a:t>
            </a:r>
          </a:p>
        </p:txBody>
      </p:sp>
      <p:sp>
        <p:nvSpPr>
          <p:cNvPr name="TextBox 17" id="17"/>
          <p:cNvSpPr txBox="true"/>
          <p:nvPr/>
        </p:nvSpPr>
        <p:spPr>
          <a:xfrm rot="0">
            <a:off x="2289800" y="5382287"/>
            <a:ext cx="6536763"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Grid-based constraints</a:t>
            </a:r>
          </a:p>
        </p:txBody>
      </p:sp>
      <p:sp>
        <p:nvSpPr>
          <p:cNvPr name="TextBox 18" id="18"/>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A</a:t>
            </a:r>
            <a:r>
              <a:rPr lang="en-US" sz="2000">
                <a:solidFill>
                  <a:srgbClr val="FFFFFF"/>
                </a:solidFill>
                <a:latin typeface="Poppins"/>
                <a:ea typeface="Poppins"/>
                <a:cs typeface="Poppins"/>
                <a:sym typeface="Poppins"/>
              </a:rPr>
              <a:t>ssign one valid word per question.</a:t>
            </a:r>
          </a:p>
          <a:p>
            <a:pPr algn="l">
              <a:lnSpc>
                <a:spcPts val="3400"/>
              </a:lnSpc>
            </a:pPr>
          </a:p>
        </p:txBody>
      </p:sp>
      <p:sp>
        <p:nvSpPr>
          <p:cNvPr name="TextBox 19" id="19"/>
          <p:cNvSpPr txBox="true"/>
          <p:nvPr/>
        </p:nvSpPr>
        <p:spPr>
          <a:xfrm rot="0">
            <a:off x="2255076" y="7611980"/>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Goal</a:t>
            </a:r>
          </a:p>
        </p:txBody>
      </p:sp>
      <p:sp>
        <p:nvSpPr>
          <p:cNvPr name="TextBox 20" id="20"/>
          <p:cNvSpPr txBox="true"/>
          <p:nvPr/>
        </p:nvSpPr>
        <p:spPr>
          <a:xfrm rot="0">
            <a:off x="1061899" y="720823"/>
            <a:ext cx="9329829" cy="2330652"/>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Solver Input Representation</a:t>
            </a:r>
          </a:p>
          <a:p>
            <a:pPr algn="ctr">
              <a:lnSpc>
                <a:spcPts val="5991"/>
              </a:lnSpc>
            </a:pPr>
          </a:p>
        </p:txBody>
      </p:sp>
      <p:grpSp>
        <p:nvGrpSpPr>
          <p:cNvPr name="Group 21" id="21"/>
          <p:cNvGrpSpPr/>
          <p:nvPr/>
        </p:nvGrpSpPr>
        <p:grpSpPr>
          <a:xfrm rot="0">
            <a:off x="17184448" y="9324975"/>
            <a:ext cx="608679" cy="602564"/>
            <a:chOff x="0" y="0"/>
            <a:chExt cx="85797" cy="84935"/>
          </a:xfrm>
        </p:grpSpPr>
        <p:sp>
          <p:nvSpPr>
            <p:cNvPr name="Freeform 22" id="22"/>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20</a:t>
            </a:r>
          </a:p>
        </p:txBody>
      </p:sp>
      <p:grpSp>
        <p:nvGrpSpPr>
          <p:cNvPr name="Group 25" id="25"/>
          <p:cNvGrpSpPr/>
          <p:nvPr/>
        </p:nvGrpSpPr>
        <p:grpSpPr>
          <a:xfrm rot="0">
            <a:off x="12325423" y="4391721"/>
            <a:ext cx="4933877" cy="1993428"/>
            <a:chOff x="0" y="0"/>
            <a:chExt cx="798568" cy="322645"/>
          </a:xfrm>
        </p:grpSpPr>
        <p:sp>
          <p:nvSpPr>
            <p:cNvPr name="Freeform 26" id="26"/>
            <p:cNvSpPr/>
            <p:nvPr/>
          </p:nvSpPr>
          <p:spPr>
            <a:xfrm flipH="false" flipV="false" rot="0">
              <a:off x="0" y="0"/>
              <a:ext cx="798568" cy="322645"/>
            </a:xfrm>
            <a:custGeom>
              <a:avLst/>
              <a:gdLst/>
              <a:ahLst/>
              <a:cxnLst/>
              <a:rect r="r" b="b" t="t" l="l"/>
              <a:pathLst>
                <a:path h="322645" w="798568">
                  <a:moveTo>
                    <a:pt x="31383" y="0"/>
                  </a:moveTo>
                  <a:lnTo>
                    <a:pt x="767186" y="0"/>
                  </a:lnTo>
                  <a:cubicBezTo>
                    <a:pt x="775509" y="0"/>
                    <a:pt x="783491" y="3306"/>
                    <a:pt x="789377" y="9192"/>
                  </a:cubicBezTo>
                  <a:cubicBezTo>
                    <a:pt x="795262" y="15077"/>
                    <a:pt x="798568" y="23059"/>
                    <a:pt x="798568" y="31383"/>
                  </a:cubicBezTo>
                  <a:lnTo>
                    <a:pt x="798568" y="291262"/>
                  </a:lnTo>
                  <a:cubicBezTo>
                    <a:pt x="798568" y="299585"/>
                    <a:pt x="795262" y="307567"/>
                    <a:pt x="789377" y="313453"/>
                  </a:cubicBezTo>
                  <a:cubicBezTo>
                    <a:pt x="783491" y="319338"/>
                    <a:pt x="775509" y="322645"/>
                    <a:pt x="767186" y="322645"/>
                  </a:cubicBezTo>
                  <a:lnTo>
                    <a:pt x="31383" y="322645"/>
                  </a:lnTo>
                  <a:cubicBezTo>
                    <a:pt x="23059" y="322645"/>
                    <a:pt x="15077" y="319338"/>
                    <a:pt x="9192" y="313453"/>
                  </a:cubicBezTo>
                  <a:cubicBezTo>
                    <a:pt x="3306" y="307567"/>
                    <a:pt x="0" y="299585"/>
                    <a:pt x="0" y="291262"/>
                  </a:cubicBezTo>
                  <a:lnTo>
                    <a:pt x="0" y="31383"/>
                  </a:lnTo>
                  <a:cubicBezTo>
                    <a:pt x="0" y="23059"/>
                    <a:pt x="3306" y="15077"/>
                    <a:pt x="9192" y="9192"/>
                  </a:cubicBezTo>
                  <a:cubicBezTo>
                    <a:pt x="15077" y="3306"/>
                    <a:pt x="23059" y="0"/>
                    <a:pt x="31383"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7" id="27"/>
            <p:cNvSpPr txBox="true"/>
            <p:nvPr/>
          </p:nvSpPr>
          <p:spPr>
            <a:xfrm>
              <a:off x="0" y="-38100"/>
              <a:ext cx="798568" cy="360745"/>
            </a:xfrm>
            <a:prstGeom prst="rect">
              <a:avLst/>
            </a:prstGeom>
          </p:spPr>
          <p:txBody>
            <a:bodyPr anchor="ctr" rtlCol="false" tIns="50800" lIns="50800" bIns="50800" rIns="50800"/>
            <a:lstStyle/>
            <a:p>
              <a:pPr algn="ctr">
                <a:lnSpc>
                  <a:spcPts val="2659"/>
                </a:lnSpc>
                <a:spcBef>
                  <a:spcPct val="0"/>
                </a:spcBef>
              </a:pPr>
            </a:p>
          </p:txBody>
        </p:sp>
      </p:grpSp>
      <p:sp>
        <p:nvSpPr>
          <p:cNvPr name="TextBox 28" id="28"/>
          <p:cNvSpPr txBox="true"/>
          <p:nvPr/>
        </p:nvSpPr>
        <p:spPr>
          <a:xfrm rot="0">
            <a:off x="12772423" y="4740743"/>
            <a:ext cx="3332275" cy="1730375"/>
          </a:xfrm>
          <a:prstGeom prst="rect">
            <a:avLst/>
          </a:prstGeom>
        </p:spPr>
        <p:txBody>
          <a:bodyPr anchor="t" rtlCol="false" tIns="0" lIns="0" bIns="0" rIns="0">
            <a:spAutoFit/>
          </a:bodyPr>
          <a:lstStyle/>
          <a:p>
            <a:pPr algn="l">
              <a:lnSpc>
                <a:spcPts val="3400"/>
              </a:lnSpc>
            </a:pPr>
          </a:p>
          <a:p>
            <a:pPr algn="l" marL="431801" indent="-215900" lvl="1">
              <a:lnSpc>
                <a:spcPts val="3400"/>
              </a:lnSpc>
              <a:buFont typeface="Arial"/>
              <a:buChar char="•"/>
            </a:pPr>
            <a:r>
              <a:rPr lang="en-US" sz="2000">
                <a:solidFill>
                  <a:srgbClr val="FFFFFF"/>
                </a:solidFill>
                <a:latin typeface="Poppins"/>
                <a:ea typeface="Poppins"/>
                <a:cs typeface="Poppins"/>
                <a:sym typeface="Poppins"/>
              </a:rPr>
              <a:t>ast</a:t>
            </a:r>
          </a:p>
          <a:p>
            <a:pPr algn="l" marL="431801" indent="-215900" lvl="1">
              <a:lnSpc>
                <a:spcPts val="3400"/>
              </a:lnSpc>
              <a:buFont typeface="Arial"/>
              <a:buChar char="•"/>
            </a:pPr>
            <a:r>
              <a:rPr lang="en-US" sz="2000">
                <a:solidFill>
                  <a:srgbClr val="FFFFFF"/>
                </a:solidFill>
                <a:latin typeface="Poppins"/>
                <a:ea typeface="Poppins"/>
                <a:cs typeface="Poppins"/>
                <a:sym typeface="Poppins"/>
              </a:rPr>
              <a:t>re</a:t>
            </a:r>
          </a:p>
          <a:p>
            <a:pPr algn="l">
              <a:lnSpc>
                <a:spcPts val="3400"/>
              </a:lnSpc>
            </a:pPr>
          </a:p>
        </p:txBody>
      </p:sp>
      <p:sp>
        <p:nvSpPr>
          <p:cNvPr name="TextBox 29" id="29"/>
          <p:cNvSpPr txBox="true"/>
          <p:nvPr/>
        </p:nvSpPr>
        <p:spPr>
          <a:xfrm rot="0">
            <a:off x="12906025" y="4630724"/>
            <a:ext cx="2469432"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Libraries used: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289800" y="3560945"/>
            <a:ext cx="8203160" cy="171132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Words</a:t>
            </a:r>
            <a:r>
              <a:rPr lang="en-US" sz="2000">
                <a:solidFill>
                  <a:srgbClr val="FFFFFF"/>
                </a:solidFill>
                <a:latin typeface="Poppins"/>
                <a:ea typeface="Poppins"/>
                <a:cs typeface="Poppins"/>
                <a:sym typeface="Poppins"/>
              </a:rPr>
              <a:t> fetched from wort-suchen.de (German crossword database).</a:t>
            </a:r>
          </a:p>
          <a:p>
            <a:pPr algn="l">
              <a:lnSpc>
                <a:spcPts val="3400"/>
              </a:lnSpc>
            </a:pPr>
          </a:p>
          <a:p>
            <a:pPr algn="l">
              <a:lnSpc>
                <a:spcPts val="3400"/>
              </a:lnSpc>
            </a:pPr>
          </a:p>
        </p:txBody>
      </p:sp>
      <p:sp>
        <p:nvSpPr>
          <p:cNvPr name="TextBox 15" id="15"/>
          <p:cNvSpPr txBox="true"/>
          <p:nvPr/>
        </p:nvSpPr>
        <p:spPr>
          <a:xfrm rot="0">
            <a:off x="2289800" y="3149331"/>
            <a:ext cx="6874027"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Candidate generation</a:t>
            </a:r>
          </a:p>
        </p:txBody>
      </p:sp>
      <p:sp>
        <p:nvSpPr>
          <p:cNvPr name="TextBox 16" id="16"/>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Try</a:t>
            </a:r>
            <a:r>
              <a:rPr lang="en-US" sz="2000">
                <a:solidFill>
                  <a:srgbClr val="FFFFFF"/>
                </a:solidFill>
                <a:latin typeface="Poppins"/>
                <a:ea typeface="Poppins"/>
                <a:cs typeface="Poppins"/>
                <a:sym typeface="Poppins"/>
              </a:rPr>
              <a:t> words and backtrack on conflicts.</a:t>
            </a:r>
          </a:p>
          <a:p>
            <a:pPr algn="l">
              <a:lnSpc>
                <a:spcPts val="3400"/>
              </a:lnSpc>
            </a:pPr>
          </a:p>
        </p:txBody>
      </p:sp>
      <p:sp>
        <p:nvSpPr>
          <p:cNvPr name="TextBox 17" id="17"/>
          <p:cNvSpPr txBox="true"/>
          <p:nvPr/>
        </p:nvSpPr>
        <p:spPr>
          <a:xfrm rot="0">
            <a:off x="2289800" y="5382287"/>
            <a:ext cx="6536763"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Backtracking search</a:t>
            </a:r>
          </a:p>
        </p:txBody>
      </p:sp>
      <p:sp>
        <p:nvSpPr>
          <p:cNvPr name="TextBox 18" id="18"/>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U</a:t>
            </a:r>
            <a:r>
              <a:rPr lang="en-US" sz="2000">
                <a:solidFill>
                  <a:srgbClr val="FFFFFF"/>
                </a:solidFill>
                <a:latin typeface="Poppins"/>
                <a:ea typeface="Poppins"/>
                <a:cs typeface="Poppins"/>
                <a:sym typeface="Poppins"/>
              </a:rPr>
              <a:t>sed as a reference solution.</a:t>
            </a:r>
          </a:p>
          <a:p>
            <a:pPr algn="l">
              <a:lnSpc>
                <a:spcPts val="3400"/>
              </a:lnSpc>
            </a:pPr>
          </a:p>
        </p:txBody>
      </p:sp>
      <p:sp>
        <p:nvSpPr>
          <p:cNvPr name="TextBox 19" id="19"/>
          <p:cNvSpPr txBox="true"/>
          <p:nvPr/>
        </p:nvSpPr>
        <p:spPr>
          <a:xfrm rot="0">
            <a:off x="2255076" y="7611980"/>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Baseline approach</a:t>
            </a:r>
          </a:p>
        </p:txBody>
      </p:sp>
      <p:sp>
        <p:nvSpPr>
          <p:cNvPr name="TextBox 20" id="20"/>
          <p:cNvSpPr txBox="true"/>
          <p:nvPr/>
        </p:nvSpPr>
        <p:spPr>
          <a:xfrm rot="0">
            <a:off x="1455322" y="1047750"/>
            <a:ext cx="8841888" cy="1578355"/>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Solver 1 — Website based Solver</a:t>
            </a:r>
          </a:p>
        </p:txBody>
      </p:sp>
      <p:grpSp>
        <p:nvGrpSpPr>
          <p:cNvPr name="Group 21" id="21"/>
          <p:cNvGrpSpPr/>
          <p:nvPr/>
        </p:nvGrpSpPr>
        <p:grpSpPr>
          <a:xfrm rot="0">
            <a:off x="17184448" y="9324975"/>
            <a:ext cx="608679" cy="602564"/>
            <a:chOff x="0" y="0"/>
            <a:chExt cx="85797" cy="84935"/>
          </a:xfrm>
        </p:grpSpPr>
        <p:sp>
          <p:nvSpPr>
            <p:cNvPr name="Freeform 22" id="22"/>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21</a:t>
            </a:r>
          </a:p>
        </p:txBody>
      </p:sp>
      <p:grpSp>
        <p:nvGrpSpPr>
          <p:cNvPr name="Group 25" id="25"/>
          <p:cNvGrpSpPr/>
          <p:nvPr/>
        </p:nvGrpSpPr>
        <p:grpSpPr>
          <a:xfrm rot="0">
            <a:off x="12250571" y="4281882"/>
            <a:ext cx="4933877" cy="2764355"/>
            <a:chOff x="0" y="0"/>
            <a:chExt cx="798568" cy="447422"/>
          </a:xfrm>
        </p:grpSpPr>
        <p:sp>
          <p:nvSpPr>
            <p:cNvPr name="Freeform 26" id="26"/>
            <p:cNvSpPr/>
            <p:nvPr/>
          </p:nvSpPr>
          <p:spPr>
            <a:xfrm flipH="false" flipV="false" rot="0">
              <a:off x="0" y="0"/>
              <a:ext cx="798568" cy="447422"/>
            </a:xfrm>
            <a:custGeom>
              <a:avLst/>
              <a:gdLst/>
              <a:ahLst/>
              <a:cxnLst/>
              <a:rect r="r" b="b" t="t" l="l"/>
              <a:pathLst>
                <a:path h="447422" w="798568">
                  <a:moveTo>
                    <a:pt x="31383" y="0"/>
                  </a:moveTo>
                  <a:lnTo>
                    <a:pt x="767186" y="0"/>
                  </a:lnTo>
                  <a:cubicBezTo>
                    <a:pt x="775509" y="0"/>
                    <a:pt x="783491" y="3306"/>
                    <a:pt x="789377" y="9192"/>
                  </a:cubicBezTo>
                  <a:cubicBezTo>
                    <a:pt x="795262" y="15077"/>
                    <a:pt x="798568" y="23059"/>
                    <a:pt x="798568" y="31383"/>
                  </a:cubicBezTo>
                  <a:lnTo>
                    <a:pt x="798568" y="416040"/>
                  </a:lnTo>
                  <a:cubicBezTo>
                    <a:pt x="798568" y="424363"/>
                    <a:pt x="795262" y="432345"/>
                    <a:pt x="789377" y="438231"/>
                  </a:cubicBezTo>
                  <a:cubicBezTo>
                    <a:pt x="783491" y="444116"/>
                    <a:pt x="775509" y="447422"/>
                    <a:pt x="767186" y="447422"/>
                  </a:cubicBezTo>
                  <a:lnTo>
                    <a:pt x="31383" y="447422"/>
                  </a:lnTo>
                  <a:cubicBezTo>
                    <a:pt x="23059" y="447422"/>
                    <a:pt x="15077" y="444116"/>
                    <a:pt x="9192" y="438231"/>
                  </a:cubicBezTo>
                  <a:cubicBezTo>
                    <a:pt x="3306" y="432345"/>
                    <a:pt x="0" y="424363"/>
                    <a:pt x="0" y="416040"/>
                  </a:cubicBezTo>
                  <a:lnTo>
                    <a:pt x="0" y="31383"/>
                  </a:lnTo>
                  <a:cubicBezTo>
                    <a:pt x="0" y="23059"/>
                    <a:pt x="3306" y="15077"/>
                    <a:pt x="9192" y="9192"/>
                  </a:cubicBezTo>
                  <a:cubicBezTo>
                    <a:pt x="15077" y="3306"/>
                    <a:pt x="23059" y="0"/>
                    <a:pt x="31383"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7" id="27"/>
            <p:cNvSpPr txBox="true"/>
            <p:nvPr/>
          </p:nvSpPr>
          <p:spPr>
            <a:xfrm>
              <a:off x="0" y="-38100"/>
              <a:ext cx="798568" cy="485522"/>
            </a:xfrm>
            <a:prstGeom prst="rect">
              <a:avLst/>
            </a:prstGeom>
          </p:spPr>
          <p:txBody>
            <a:bodyPr anchor="ctr" rtlCol="false" tIns="50800" lIns="50800" bIns="50800" rIns="50800"/>
            <a:lstStyle/>
            <a:p>
              <a:pPr algn="ctr">
                <a:lnSpc>
                  <a:spcPts val="2659"/>
                </a:lnSpc>
                <a:spcBef>
                  <a:spcPct val="0"/>
                </a:spcBef>
              </a:pPr>
            </a:p>
          </p:txBody>
        </p:sp>
      </p:grpSp>
      <p:sp>
        <p:nvSpPr>
          <p:cNvPr name="TextBox 28" id="28"/>
          <p:cNvSpPr txBox="true"/>
          <p:nvPr/>
        </p:nvSpPr>
        <p:spPr>
          <a:xfrm rot="0">
            <a:off x="12719979" y="5022074"/>
            <a:ext cx="4194979" cy="21780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requests</a:t>
            </a:r>
          </a:p>
          <a:p>
            <a:pPr algn="l" marL="431801" indent="-215900" lvl="1">
              <a:lnSpc>
                <a:spcPts val="3400"/>
              </a:lnSpc>
              <a:buFont typeface="Arial"/>
              <a:buChar char="•"/>
            </a:pPr>
            <a:r>
              <a:rPr lang="en-US" sz="2000">
                <a:solidFill>
                  <a:srgbClr val="FFFFFF"/>
                </a:solidFill>
                <a:latin typeface="Poppins"/>
                <a:ea typeface="Poppins"/>
                <a:cs typeface="Poppins"/>
                <a:sym typeface="Poppins"/>
              </a:rPr>
              <a:t>beautifulsoup4</a:t>
            </a:r>
          </a:p>
          <a:p>
            <a:pPr algn="l" marL="431801" indent="-215900" lvl="1">
              <a:lnSpc>
                <a:spcPts val="3400"/>
              </a:lnSpc>
              <a:buFont typeface="Arial"/>
              <a:buChar char="•"/>
            </a:pPr>
            <a:r>
              <a:rPr lang="en-US" sz="2000">
                <a:solidFill>
                  <a:srgbClr val="FFFFFF"/>
                </a:solidFill>
                <a:latin typeface="Poppins"/>
                <a:ea typeface="Poppins"/>
                <a:cs typeface="Poppins"/>
                <a:sym typeface="Poppins"/>
              </a:rPr>
              <a:t>urllib.parse</a:t>
            </a:r>
          </a:p>
          <a:p>
            <a:pPr algn="l" marL="431801" indent="-215900" lvl="1">
              <a:lnSpc>
                <a:spcPts val="3400"/>
              </a:lnSpc>
              <a:buFont typeface="Arial"/>
              <a:buChar char="•"/>
            </a:pPr>
            <a:r>
              <a:rPr lang="en-US" sz="2000">
                <a:solidFill>
                  <a:srgbClr val="FFFFFF"/>
                </a:solidFill>
                <a:latin typeface="Poppins"/>
                <a:ea typeface="Poppins"/>
                <a:cs typeface="Poppins"/>
                <a:sym typeface="Poppins"/>
              </a:rPr>
              <a:t>time</a:t>
            </a:r>
          </a:p>
          <a:p>
            <a:pPr algn="l">
              <a:lnSpc>
                <a:spcPts val="3400"/>
              </a:lnSpc>
            </a:pPr>
          </a:p>
        </p:txBody>
      </p:sp>
      <p:sp>
        <p:nvSpPr>
          <p:cNvPr name="TextBox 29" id="29"/>
          <p:cNvSpPr txBox="true"/>
          <p:nvPr/>
        </p:nvSpPr>
        <p:spPr>
          <a:xfrm rot="0">
            <a:off x="12831174" y="4520885"/>
            <a:ext cx="2469432"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Libraries used: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2825850"/>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3146724"/>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5107941"/>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5388435"/>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7387908"/>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7618128"/>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289800" y="3560945"/>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Words</a:t>
            </a:r>
            <a:r>
              <a:rPr lang="en-US" sz="2000">
                <a:solidFill>
                  <a:srgbClr val="FFFFFF"/>
                </a:solidFill>
                <a:latin typeface="Poppins"/>
                <a:ea typeface="Poppins"/>
                <a:cs typeface="Poppins"/>
                <a:sym typeface="Poppins"/>
              </a:rPr>
              <a:t> fetched from a crossword website (wort-suchen.de).</a:t>
            </a:r>
          </a:p>
          <a:p>
            <a:pPr algn="l">
              <a:lnSpc>
                <a:spcPts val="3400"/>
              </a:lnSpc>
            </a:pPr>
            <a:r>
              <a:rPr lang="en-US" sz="2000">
                <a:solidFill>
                  <a:srgbClr val="FFFFFF"/>
                </a:solidFill>
                <a:latin typeface="Poppins"/>
                <a:ea typeface="Poppins"/>
                <a:cs typeface="Poppins"/>
                <a:sym typeface="Poppins"/>
              </a:rPr>
              <a:t>Semantic candidates from an LLM.</a:t>
            </a:r>
          </a:p>
        </p:txBody>
      </p:sp>
      <p:sp>
        <p:nvSpPr>
          <p:cNvPr name="TextBox 15" id="15"/>
          <p:cNvSpPr txBox="true"/>
          <p:nvPr/>
        </p:nvSpPr>
        <p:spPr>
          <a:xfrm rot="0">
            <a:off x="2289800" y="3149331"/>
            <a:ext cx="6874027"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Candidate generation (Website&amp;GPT)</a:t>
            </a:r>
          </a:p>
        </p:txBody>
      </p:sp>
      <p:sp>
        <p:nvSpPr>
          <p:cNvPr name="TextBox 16" id="16"/>
          <p:cNvSpPr txBox="true"/>
          <p:nvPr/>
        </p:nvSpPr>
        <p:spPr>
          <a:xfrm rot="0">
            <a:off x="2289800" y="5793901"/>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Web</a:t>
            </a:r>
            <a:r>
              <a:rPr lang="en-US" sz="2000">
                <a:solidFill>
                  <a:srgbClr val="FFFFFF"/>
                </a:solidFill>
                <a:latin typeface="Poppins"/>
                <a:ea typeface="Poppins"/>
                <a:cs typeface="Poppins"/>
                <a:sym typeface="Poppins"/>
              </a:rPr>
              <a:t>site &gt; GPT &gt; fallback.</a:t>
            </a:r>
          </a:p>
          <a:p>
            <a:pPr algn="l">
              <a:lnSpc>
                <a:spcPts val="3400"/>
              </a:lnSpc>
            </a:pPr>
          </a:p>
        </p:txBody>
      </p:sp>
      <p:sp>
        <p:nvSpPr>
          <p:cNvPr name="TextBox 17" id="17"/>
          <p:cNvSpPr txBox="true"/>
          <p:nvPr/>
        </p:nvSpPr>
        <p:spPr>
          <a:xfrm rot="0">
            <a:off x="2289800" y="5382287"/>
            <a:ext cx="6536763"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Merging &amp; weighting</a:t>
            </a:r>
          </a:p>
        </p:txBody>
      </p:sp>
      <p:sp>
        <p:nvSpPr>
          <p:cNvPr name="TextBox 18" id="18"/>
          <p:cNvSpPr txBox="true"/>
          <p:nvPr/>
        </p:nvSpPr>
        <p:spPr>
          <a:xfrm rot="0">
            <a:off x="2255076" y="8023594"/>
            <a:ext cx="8203160" cy="8540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Each clu</a:t>
            </a:r>
            <a:r>
              <a:rPr lang="en-US" sz="2000">
                <a:solidFill>
                  <a:srgbClr val="FFFFFF"/>
                </a:solidFill>
                <a:latin typeface="Poppins"/>
                <a:ea typeface="Poppins"/>
                <a:cs typeface="Poppins"/>
                <a:sym typeface="Poppins"/>
              </a:rPr>
              <a:t>e always has candidates.</a:t>
            </a:r>
          </a:p>
          <a:p>
            <a:pPr algn="l">
              <a:lnSpc>
                <a:spcPts val="3400"/>
              </a:lnSpc>
            </a:pPr>
          </a:p>
        </p:txBody>
      </p:sp>
      <p:sp>
        <p:nvSpPr>
          <p:cNvPr name="TextBox 19" id="19"/>
          <p:cNvSpPr txBox="true"/>
          <p:nvPr/>
        </p:nvSpPr>
        <p:spPr>
          <a:xfrm rot="0">
            <a:off x="2255076" y="7611980"/>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Never-empty rule</a:t>
            </a:r>
          </a:p>
        </p:txBody>
      </p:sp>
      <p:sp>
        <p:nvSpPr>
          <p:cNvPr name="TextBox 20" id="20"/>
          <p:cNvSpPr txBox="true"/>
          <p:nvPr/>
        </p:nvSpPr>
        <p:spPr>
          <a:xfrm rot="0">
            <a:off x="409065" y="1361795"/>
            <a:ext cx="11650264"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Solver 2 —  Hybrid Solver</a:t>
            </a:r>
          </a:p>
        </p:txBody>
      </p:sp>
      <p:grpSp>
        <p:nvGrpSpPr>
          <p:cNvPr name="Group 21" id="21"/>
          <p:cNvGrpSpPr/>
          <p:nvPr/>
        </p:nvGrpSpPr>
        <p:grpSpPr>
          <a:xfrm rot="0">
            <a:off x="17184448" y="9324975"/>
            <a:ext cx="608679" cy="602564"/>
            <a:chOff x="0" y="0"/>
            <a:chExt cx="85797" cy="84935"/>
          </a:xfrm>
        </p:grpSpPr>
        <p:sp>
          <p:nvSpPr>
            <p:cNvPr name="Freeform 22" id="22"/>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55322" y="1947848"/>
            <a:ext cx="9329829" cy="1870392"/>
            <a:chOff x="0" y="0"/>
            <a:chExt cx="1315091" cy="263642"/>
          </a:xfrm>
        </p:grpSpPr>
        <p:sp>
          <p:nvSpPr>
            <p:cNvPr name="Freeform 3" id="3"/>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4" id="4"/>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28931" y="2268722"/>
            <a:ext cx="440189" cy="440189"/>
          </a:xfrm>
          <a:custGeom>
            <a:avLst/>
            <a:gdLst/>
            <a:ahLst/>
            <a:cxnLst/>
            <a:rect r="r" b="b" t="t" l="l"/>
            <a:pathLst>
              <a:path h="440189" w="440189">
                <a:moveTo>
                  <a:pt x="0" y="0"/>
                </a:moveTo>
                <a:lnTo>
                  <a:pt x="440189" y="0"/>
                </a:lnTo>
                <a:lnTo>
                  <a:pt x="440189" y="440189"/>
                </a:lnTo>
                <a:lnTo>
                  <a:pt x="0" y="4401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55322" y="3999215"/>
            <a:ext cx="9329829" cy="1870392"/>
            <a:chOff x="0" y="0"/>
            <a:chExt cx="1315091" cy="263642"/>
          </a:xfrm>
        </p:grpSpPr>
        <p:sp>
          <p:nvSpPr>
            <p:cNvPr name="Freeform 7" id="7"/>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8" id="8"/>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8931" y="4279709"/>
            <a:ext cx="421709" cy="403629"/>
          </a:xfrm>
          <a:custGeom>
            <a:avLst/>
            <a:gdLst/>
            <a:ahLst/>
            <a:cxnLst/>
            <a:rect r="r" b="b" t="t" l="l"/>
            <a:pathLst>
              <a:path h="403629" w="421709">
                <a:moveTo>
                  <a:pt x="0" y="0"/>
                </a:moveTo>
                <a:lnTo>
                  <a:pt x="421709" y="0"/>
                </a:lnTo>
                <a:lnTo>
                  <a:pt x="421709" y="403628"/>
                </a:lnTo>
                <a:lnTo>
                  <a:pt x="0" y="403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55322" y="5964856"/>
            <a:ext cx="9329829" cy="1870392"/>
            <a:chOff x="0" y="0"/>
            <a:chExt cx="1315091" cy="263642"/>
          </a:xfrm>
        </p:grpSpPr>
        <p:sp>
          <p:nvSpPr>
            <p:cNvPr name="Freeform 11" id="11"/>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12" id="12"/>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28931" y="6195077"/>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289800" y="2682943"/>
            <a:ext cx="8203160"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Clu</a:t>
            </a:r>
            <a:r>
              <a:rPr lang="en-US" sz="2000">
                <a:solidFill>
                  <a:srgbClr val="FFFFFF"/>
                </a:solidFill>
                <a:latin typeface="Poppins"/>
                <a:ea typeface="Poppins"/>
                <a:cs typeface="Poppins"/>
                <a:sym typeface="Poppins"/>
              </a:rPr>
              <a:t>es = variables, list of candidate words= domains,grid intersections=constraints .</a:t>
            </a:r>
          </a:p>
          <a:p>
            <a:pPr algn="l">
              <a:lnSpc>
                <a:spcPts val="3400"/>
              </a:lnSpc>
            </a:pPr>
          </a:p>
        </p:txBody>
      </p:sp>
      <p:sp>
        <p:nvSpPr>
          <p:cNvPr name="TextBox 15" id="15"/>
          <p:cNvSpPr txBox="true"/>
          <p:nvPr/>
        </p:nvSpPr>
        <p:spPr>
          <a:xfrm rot="0">
            <a:off x="2289800" y="2271329"/>
            <a:ext cx="6874027"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 CSP formulation</a:t>
            </a:r>
          </a:p>
        </p:txBody>
      </p:sp>
      <p:sp>
        <p:nvSpPr>
          <p:cNvPr name="TextBox 16" id="16"/>
          <p:cNvSpPr txBox="true"/>
          <p:nvPr/>
        </p:nvSpPr>
        <p:spPr>
          <a:xfrm rot="0">
            <a:off x="2289800" y="4685174"/>
            <a:ext cx="8203160" cy="85407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Start w</a:t>
            </a:r>
            <a:r>
              <a:rPr lang="en-US" sz="2000">
                <a:solidFill>
                  <a:srgbClr val="FFFFFF"/>
                </a:solidFill>
                <a:latin typeface="Poppins"/>
                <a:ea typeface="Poppins"/>
                <a:cs typeface="Poppins"/>
                <a:sym typeface="Poppins"/>
              </a:rPr>
              <a:t>ith a constrained anchor word.</a:t>
            </a:r>
          </a:p>
          <a:p>
            <a:pPr algn="l" marL="431801" indent="-215900" lvl="1">
              <a:lnSpc>
                <a:spcPts val="3400"/>
              </a:lnSpc>
              <a:buFont typeface="Arial"/>
              <a:buChar char="•"/>
            </a:pPr>
            <a:r>
              <a:rPr lang="en-US" sz="2000">
                <a:solidFill>
                  <a:srgbClr val="FFFFFF"/>
                </a:solidFill>
                <a:latin typeface="Poppins"/>
                <a:ea typeface="Poppins"/>
                <a:cs typeface="Poppins"/>
                <a:sym typeface="Poppins"/>
              </a:rPr>
              <a:t>Fewer candidates or longer length</a:t>
            </a:r>
          </a:p>
        </p:txBody>
      </p:sp>
      <p:sp>
        <p:nvSpPr>
          <p:cNvPr name="TextBox 17" id="17"/>
          <p:cNvSpPr txBox="true"/>
          <p:nvPr/>
        </p:nvSpPr>
        <p:spPr>
          <a:xfrm rot="0">
            <a:off x="2289800" y="4273560"/>
            <a:ext cx="6536763"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 Seeding</a:t>
            </a:r>
          </a:p>
        </p:txBody>
      </p:sp>
      <p:sp>
        <p:nvSpPr>
          <p:cNvPr name="TextBox 18" id="18"/>
          <p:cNvSpPr txBox="true"/>
          <p:nvPr/>
        </p:nvSpPr>
        <p:spPr>
          <a:xfrm rot="0">
            <a:off x="2255076" y="6600542"/>
            <a:ext cx="8203160"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Once a word is plac</a:t>
            </a:r>
            <a:r>
              <a:rPr lang="en-US" sz="2000">
                <a:solidFill>
                  <a:srgbClr val="FFFFFF"/>
                </a:solidFill>
                <a:latin typeface="Poppins"/>
                <a:ea typeface="Poppins"/>
                <a:cs typeface="Poppins"/>
                <a:sym typeface="Poppins"/>
              </a:rPr>
              <a:t>ed, its letters become fixed and remove words that do not fit in intersecting clues.</a:t>
            </a:r>
          </a:p>
          <a:p>
            <a:pPr algn="l">
              <a:lnSpc>
                <a:spcPts val="3400"/>
              </a:lnSpc>
            </a:pPr>
          </a:p>
        </p:txBody>
      </p:sp>
      <p:sp>
        <p:nvSpPr>
          <p:cNvPr name="TextBox 19" id="19"/>
          <p:cNvSpPr txBox="true"/>
          <p:nvPr/>
        </p:nvSpPr>
        <p:spPr>
          <a:xfrm rot="0">
            <a:off x="2255076" y="6188928"/>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Propagation &amp; pruning</a:t>
            </a:r>
          </a:p>
        </p:txBody>
      </p:sp>
      <p:sp>
        <p:nvSpPr>
          <p:cNvPr name="TextBox 20" id="20"/>
          <p:cNvSpPr txBox="true"/>
          <p:nvPr/>
        </p:nvSpPr>
        <p:spPr>
          <a:xfrm rot="0">
            <a:off x="1332185" y="769542"/>
            <a:ext cx="9576104" cy="825880"/>
          </a:xfrm>
          <a:prstGeom prst="rect">
            <a:avLst/>
          </a:prstGeom>
        </p:spPr>
        <p:txBody>
          <a:bodyPr anchor="t" rtlCol="false" tIns="0" lIns="0" bIns="0" rIns="0">
            <a:spAutoFit/>
          </a:bodyPr>
          <a:lstStyle/>
          <a:p>
            <a:pPr algn="ctr">
              <a:lnSpc>
                <a:spcPts val="5991"/>
              </a:lnSpc>
            </a:pPr>
            <a:r>
              <a:rPr lang="en-US" sz="5599" b="true">
                <a:solidFill>
                  <a:srgbClr val="FFFFFF"/>
                </a:solidFill>
                <a:latin typeface="Poppins Bold"/>
                <a:ea typeface="Poppins Bold"/>
                <a:cs typeface="Poppins Bold"/>
                <a:sym typeface="Poppins Bold"/>
              </a:rPr>
              <a:t>Solver 2 —  Hybrid Solver</a:t>
            </a:r>
          </a:p>
        </p:txBody>
      </p:sp>
      <p:grpSp>
        <p:nvGrpSpPr>
          <p:cNvPr name="Group 21" id="21"/>
          <p:cNvGrpSpPr/>
          <p:nvPr/>
        </p:nvGrpSpPr>
        <p:grpSpPr>
          <a:xfrm rot="0">
            <a:off x="17184448" y="9324975"/>
            <a:ext cx="608679" cy="602564"/>
            <a:chOff x="0" y="0"/>
            <a:chExt cx="85797" cy="84935"/>
          </a:xfrm>
        </p:grpSpPr>
        <p:sp>
          <p:nvSpPr>
            <p:cNvPr name="Freeform 22" id="22"/>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3" id="23"/>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23</a:t>
            </a:r>
          </a:p>
        </p:txBody>
      </p:sp>
      <p:grpSp>
        <p:nvGrpSpPr>
          <p:cNvPr name="Group 25" id="25"/>
          <p:cNvGrpSpPr/>
          <p:nvPr/>
        </p:nvGrpSpPr>
        <p:grpSpPr>
          <a:xfrm rot="0">
            <a:off x="1455322" y="7959073"/>
            <a:ext cx="9329829" cy="1870392"/>
            <a:chOff x="0" y="0"/>
            <a:chExt cx="1315091" cy="263642"/>
          </a:xfrm>
        </p:grpSpPr>
        <p:sp>
          <p:nvSpPr>
            <p:cNvPr name="Freeform 26" id="26"/>
            <p:cNvSpPr/>
            <p:nvPr/>
          </p:nvSpPr>
          <p:spPr>
            <a:xfrm flipH="false" flipV="false" rot="0">
              <a:off x="0" y="0"/>
              <a:ext cx="1315091" cy="263642"/>
            </a:xfrm>
            <a:custGeom>
              <a:avLst/>
              <a:gdLst/>
              <a:ahLst/>
              <a:cxnLst/>
              <a:rect r="r" b="b" t="t" l="l"/>
              <a:pathLst>
                <a:path h="263642" w="1315091">
                  <a:moveTo>
                    <a:pt x="16596" y="0"/>
                  </a:moveTo>
                  <a:lnTo>
                    <a:pt x="1298495" y="0"/>
                  </a:lnTo>
                  <a:cubicBezTo>
                    <a:pt x="1307661" y="0"/>
                    <a:pt x="1315091" y="7430"/>
                    <a:pt x="1315091" y="16596"/>
                  </a:cubicBezTo>
                  <a:lnTo>
                    <a:pt x="1315091" y="247046"/>
                  </a:lnTo>
                  <a:cubicBezTo>
                    <a:pt x="1315091" y="251448"/>
                    <a:pt x="1313342" y="255669"/>
                    <a:pt x="1310230" y="258781"/>
                  </a:cubicBezTo>
                  <a:cubicBezTo>
                    <a:pt x="1307118" y="261894"/>
                    <a:pt x="1302896" y="263642"/>
                    <a:pt x="1298495" y="263642"/>
                  </a:cubicBezTo>
                  <a:lnTo>
                    <a:pt x="16596" y="263642"/>
                  </a:lnTo>
                  <a:cubicBezTo>
                    <a:pt x="12195" y="263642"/>
                    <a:pt x="7973" y="261894"/>
                    <a:pt x="4861" y="258781"/>
                  </a:cubicBezTo>
                  <a:cubicBezTo>
                    <a:pt x="1749" y="255669"/>
                    <a:pt x="0" y="251448"/>
                    <a:pt x="0" y="247046"/>
                  </a:cubicBezTo>
                  <a:lnTo>
                    <a:pt x="0" y="16596"/>
                  </a:lnTo>
                  <a:cubicBezTo>
                    <a:pt x="0" y="12195"/>
                    <a:pt x="1749" y="7973"/>
                    <a:pt x="4861" y="4861"/>
                  </a:cubicBezTo>
                  <a:cubicBezTo>
                    <a:pt x="7973" y="1749"/>
                    <a:pt x="12195" y="0"/>
                    <a:pt x="16596"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27" id="27"/>
            <p:cNvSpPr txBox="true"/>
            <p:nvPr/>
          </p:nvSpPr>
          <p:spPr>
            <a:xfrm>
              <a:off x="0" y="-38100"/>
              <a:ext cx="1315091" cy="301742"/>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1628931" y="8189293"/>
            <a:ext cx="421709" cy="403629"/>
          </a:xfrm>
          <a:custGeom>
            <a:avLst/>
            <a:gdLst/>
            <a:ahLst/>
            <a:cxnLst/>
            <a:rect r="r" b="b" t="t" l="l"/>
            <a:pathLst>
              <a:path h="403629" w="421709">
                <a:moveTo>
                  <a:pt x="0" y="0"/>
                </a:moveTo>
                <a:lnTo>
                  <a:pt x="421709" y="0"/>
                </a:lnTo>
                <a:lnTo>
                  <a:pt x="421709" y="403629"/>
                </a:lnTo>
                <a:lnTo>
                  <a:pt x="0" y="40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9" id="29"/>
          <p:cNvSpPr txBox="true"/>
          <p:nvPr/>
        </p:nvSpPr>
        <p:spPr>
          <a:xfrm rot="0">
            <a:off x="2255076" y="8594759"/>
            <a:ext cx="8203160"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B</a:t>
            </a:r>
            <a:r>
              <a:rPr lang="en-US" sz="2000">
                <a:solidFill>
                  <a:srgbClr val="FFFFFF"/>
                </a:solidFill>
                <a:latin typeface="Poppins"/>
                <a:ea typeface="Poppins"/>
                <a:cs typeface="Poppins"/>
                <a:sym typeface="Poppins"/>
              </a:rPr>
              <a:t>acktracking is used only after the grid is constrained and we have some remaining options .</a:t>
            </a:r>
          </a:p>
          <a:p>
            <a:pPr algn="l">
              <a:lnSpc>
                <a:spcPts val="3400"/>
              </a:lnSpc>
            </a:pPr>
          </a:p>
        </p:txBody>
      </p:sp>
      <p:sp>
        <p:nvSpPr>
          <p:cNvPr name="TextBox 30" id="30"/>
          <p:cNvSpPr txBox="true"/>
          <p:nvPr/>
        </p:nvSpPr>
        <p:spPr>
          <a:xfrm rot="0">
            <a:off x="2255076" y="8183145"/>
            <a:ext cx="6571486" cy="358716"/>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 Backtracking search</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259" r="0" b="-4259"/>
            </a:stretch>
          </a:blipFill>
        </p:spPr>
      </p:sp>
      <p:grpSp>
        <p:nvGrpSpPr>
          <p:cNvPr name="Group 3" id="3"/>
          <p:cNvGrpSpPr/>
          <p:nvPr/>
        </p:nvGrpSpPr>
        <p:grpSpPr>
          <a:xfrm rot="0">
            <a:off x="17184448" y="9324975"/>
            <a:ext cx="608679" cy="602564"/>
            <a:chOff x="0" y="0"/>
            <a:chExt cx="85797" cy="84935"/>
          </a:xfrm>
        </p:grpSpPr>
        <p:sp>
          <p:nvSpPr>
            <p:cNvPr name="Freeform 4" id="4"/>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5" id="5"/>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147724" y="5886816"/>
            <a:ext cx="11992551" cy="1907459"/>
          </a:xfrm>
          <a:prstGeom prst="rect">
            <a:avLst/>
          </a:prstGeom>
        </p:spPr>
        <p:txBody>
          <a:bodyPr anchor="t" rtlCol="false" tIns="0" lIns="0" bIns="0" rIns="0">
            <a:spAutoFit/>
          </a:bodyPr>
          <a:lstStyle/>
          <a:p>
            <a:pPr algn="ctr">
              <a:lnSpc>
                <a:spcPts val="13269"/>
              </a:lnSpc>
            </a:pPr>
            <a:r>
              <a:rPr lang="en-US" b="true" sz="13822">
                <a:solidFill>
                  <a:srgbClr val="FFFFFF"/>
                </a:solidFill>
                <a:latin typeface="Poppins Bold"/>
                <a:ea typeface="Poppins Bold"/>
                <a:cs typeface="Poppins Bold"/>
                <a:sym typeface="Poppins Bold"/>
              </a:rPr>
              <a:t>LIVE DEMO</a:t>
            </a:r>
          </a:p>
        </p:txBody>
      </p:sp>
      <p:sp>
        <p:nvSpPr>
          <p:cNvPr name="TextBox 7" id="7"/>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259" r="0" b="-4259"/>
            </a:stretch>
          </a:blipFill>
        </p:spPr>
      </p:sp>
      <p:grpSp>
        <p:nvGrpSpPr>
          <p:cNvPr name="Group 3" id="3"/>
          <p:cNvGrpSpPr/>
          <p:nvPr/>
        </p:nvGrpSpPr>
        <p:grpSpPr>
          <a:xfrm rot="0">
            <a:off x="17184448" y="9324975"/>
            <a:ext cx="608679" cy="602564"/>
            <a:chOff x="0" y="0"/>
            <a:chExt cx="85797" cy="84935"/>
          </a:xfrm>
        </p:grpSpPr>
        <p:sp>
          <p:nvSpPr>
            <p:cNvPr name="Freeform 4" id="4"/>
            <p:cNvSpPr/>
            <p:nvPr/>
          </p:nvSpPr>
          <p:spPr>
            <a:xfrm flipH="false" flipV="false" rot="0">
              <a:off x="0" y="0"/>
              <a:ext cx="85797" cy="84935"/>
            </a:xfrm>
            <a:custGeom>
              <a:avLst/>
              <a:gdLst/>
              <a:ahLst/>
              <a:cxnLst/>
              <a:rect r="r" b="b" t="t" l="l"/>
              <a:pathLst>
                <a:path h="84935" w="85797">
                  <a:moveTo>
                    <a:pt x="42467" y="0"/>
                  </a:moveTo>
                  <a:lnTo>
                    <a:pt x="43329" y="0"/>
                  </a:lnTo>
                  <a:cubicBezTo>
                    <a:pt x="54592" y="0"/>
                    <a:pt x="65394" y="4474"/>
                    <a:pt x="73358" y="12438"/>
                  </a:cubicBezTo>
                  <a:cubicBezTo>
                    <a:pt x="81322" y="20403"/>
                    <a:pt x="85797" y="31204"/>
                    <a:pt x="85797" y="42467"/>
                  </a:cubicBezTo>
                  <a:lnTo>
                    <a:pt x="85797" y="42467"/>
                  </a:lnTo>
                  <a:cubicBezTo>
                    <a:pt x="85797" y="65921"/>
                    <a:pt x="66783" y="84935"/>
                    <a:pt x="43329" y="84935"/>
                  </a:cubicBezTo>
                  <a:lnTo>
                    <a:pt x="42467" y="84935"/>
                  </a:lnTo>
                  <a:cubicBezTo>
                    <a:pt x="19013" y="84935"/>
                    <a:pt x="0" y="65921"/>
                    <a:pt x="0" y="42467"/>
                  </a:cubicBezTo>
                  <a:lnTo>
                    <a:pt x="0" y="42467"/>
                  </a:lnTo>
                  <a:cubicBezTo>
                    <a:pt x="0" y="19013"/>
                    <a:pt x="19013" y="0"/>
                    <a:pt x="42467" y="0"/>
                  </a:cubicBezTo>
                  <a:close/>
                </a:path>
              </a:pathLst>
            </a:custGeom>
            <a:gradFill rotWithShape="true">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name="TextBox 5" id="5"/>
            <p:cNvSpPr txBox="true"/>
            <p:nvPr/>
          </p:nvSpPr>
          <p:spPr>
            <a:xfrm>
              <a:off x="0" y="-57150"/>
              <a:ext cx="85797" cy="14208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147724" y="5886816"/>
            <a:ext cx="11992551" cy="1907459"/>
          </a:xfrm>
          <a:prstGeom prst="rect">
            <a:avLst/>
          </a:prstGeom>
        </p:spPr>
        <p:txBody>
          <a:bodyPr anchor="t" rtlCol="false" tIns="0" lIns="0" bIns="0" rIns="0">
            <a:spAutoFit/>
          </a:bodyPr>
          <a:lstStyle/>
          <a:p>
            <a:pPr algn="ctr">
              <a:lnSpc>
                <a:spcPts val="13269"/>
              </a:lnSpc>
            </a:pPr>
            <a:r>
              <a:rPr lang="en-US" b="true" sz="13822">
                <a:solidFill>
                  <a:srgbClr val="FFFFFF"/>
                </a:solidFill>
                <a:latin typeface="Poppins Bold"/>
                <a:ea typeface="Poppins Bold"/>
                <a:cs typeface="Poppins Bold"/>
                <a:sym typeface="Poppins Bold"/>
              </a:rPr>
              <a:t>THANK YOU</a:t>
            </a:r>
          </a:p>
        </p:txBody>
      </p:sp>
      <p:sp>
        <p:nvSpPr>
          <p:cNvPr name="TextBox 7" id="7"/>
          <p:cNvSpPr txBox="true"/>
          <p:nvPr/>
        </p:nvSpPr>
        <p:spPr>
          <a:xfrm rot="0">
            <a:off x="3682852" y="7670450"/>
            <a:ext cx="10922297" cy="473075"/>
          </a:xfrm>
          <a:prstGeom prst="rect">
            <a:avLst/>
          </a:prstGeom>
        </p:spPr>
        <p:txBody>
          <a:bodyPr anchor="t" rtlCol="false" tIns="0" lIns="0" bIns="0" rIns="0">
            <a:spAutoFit/>
          </a:bodyPr>
          <a:lstStyle/>
          <a:p>
            <a:pPr algn="ctr">
              <a:lnSpc>
                <a:spcPts val="3910"/>
              </a:lnSpc>
            </a:pPr>
            <a:r>
              <a:rPr lang="en-US" sz="2300" spc="1104">
                <a:solidFill>
                  <a:srgbClr val="FFFFFF"/>
                </a:solidFill>
                <a:latin typeface="Poppins"/>
                <a:ea typeface="Poppins"/>
                <a:cs typeface="Poppins"/>
                <a:sym typeface="Poppins"/>
              </a:rPr>
              <a:t>FOR YOUR ATTENTION</a:t>
            </a:r>
          </a:p>
        </p:txBody>
      </p:sp>
      <p:sp>
        <p:nvSpPr>
          <p:cNvPr name="TextBox 8" id="8"/>
          <p:cNvSpPr txBox="true"/>
          <p:nvPr/>
        </p:nvSpPr>
        <p:spPr>
          <a:xfrm rot="0">
            <a:off x="17315777" y="9367177"/>
            <a:ext cx="346022"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DAG_Bq2b4nc</dc:identifier>
  <dcterms:modified xsi:type="dcterms:W3CDTF">2011-08-01T06:04:30Z</dcterms:modified>
  <cp:revision>1</cp:revision>
  <dc:title>Green Gradient Modern Computer Presentation</dc:title>
</cp:coreProperties>
</file>